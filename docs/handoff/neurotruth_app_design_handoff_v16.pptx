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01" d="100"/>
          <a:sy n="201" d="100"/>
        </p:scale>
        <p:origin x="65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1839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919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6281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8281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6844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0107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NeuroTruth 통합 사용자 흐름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noGrp="1"/>
          </p:cNvSpPr>
          <p:nvPr/>
        </p:nvSpPr>
        <p:spPr>
          <a:xfrm>
            <a:off x="2266950" y="1438275"/>
            <a:ext cx="3429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noGrp="1"/>
          </p:cNvSpPr>
          <p:nvPr/>
        </p:nvSpPr>
        <p:spPr>
          <a:xfrm>
            <a:off x="4095750" y="1438275"/>
            <a:ext cx="3429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noGrp="1"/>
          </p:cNvSpPr>
          <p:nvPr/>
        </p:nvSpPr>
        <p:spPr>
          <a:xfrm>
            <a:off x="5924550" y="1438275"/>
            <a:ext cx="3429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noGrp="1"/>
          </p:cNvSpPr>
          <p:nvPr/>
        </p:nvSpPr>
        <p:spPr>
          <a:xfrm>
            <a:off x="6991350" y="1885950"/>
            <a:ext cx="123825" cy="438150"/>
          </a:xfrm>
          <a:prstGeom prst="down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noGrp="1"/>
          </p:cNvSpPr>
          <p:nvPr/>
        </p:nvSpPr>
        <p:spPr>
          <a:xfrm>
            <a:off x="2381250" y="2686050"/>
            <a:ext cx="304800" cy="123825"/>
          </a:xfrm>
          <a:prstGeom prst="lef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noGrp="1"/>
          </p:cNvSpPr>
          <p:nvPr/>
        </p:nvSpPr>
        <p:spPr>
          <a:xfrm>
            <a:off x="4171950" y="2686050"/>
            <a:ext cx="304800" cy="123825"/>
          </a:xfrm>
          <a:prstGeom prst="lef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noGrp="1"/>
          </p:cNvSpPr>
          <p:nvPr/>
        </p:nvSpPr>
        <p:spPr>
          <a:xfrm>
            <a:off x="5962650" y="2686050"/>
            <a:ext cx="304800" cy="123825"/>
          </a:xfrm>
          <a:prstGeom prst="lef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noGrp="1"/>
          </p:cNvSpPr>
          <p:nvPr/>
        </p:nvSpPr>
        <p:spPr>
          <a:xfrm>
            <a:off x="895350" y="102870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진입 →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13335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알림 흐름 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noGrp="1"/>
          </p:cNvSpPr>
          <p:nvPr/>
        </p:nvSpPr>
        <p:spPr>
          <a:xfrm>
            <a:off x="895350" y="1200150"/>
            <a:ext cx="13716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noGrp="1"/>
          </p:cNvSpPr>
          <p:nvPr/>
        </p:nvSpPr>
        <p:spPr>
          <a:xfrm>
            <a:off x="971550" y="1266825"/>
            <a:ext cx="12192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noGrp="1"/>
          </p:cNvSpPr>
          <p:nvPr/>
        </p:nvSpPr>
        <p:spPr>
          <a:xfrm>
            <a:off x="971550" y="1524000"/>
            <a:ext cx="12192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NT-01 · 대상·한계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noGrp="1"/>
          </p:cNvSpPr>
          <p:nvPr/>
        </p:nvSpPr>
        <p:spPr>
          <a:xfrm>
            <a:off x="2609850" y="12001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noGrp="1"/>
          </p:cNvSpPr>
          <p:nvPr/>
        </p:nvSpPr>
        <p:spPr>
          <a:xfrm>
            <a:off x="2686050" y="126682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noGrp="1"/>
          </p:cNvSpPr>
          <p:nvPr/>
        </p:nvSpPr>
        <p:spPr>
          <a:xfrm>
            <a:off x="2686050" y="152400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NT-02 · 환자 가입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noGrp="1"/>
          </p:cNvSpPr>
          <p:nvPr/>
        </p:nvSpPr>
        <p:spPr>
          <a:xfrm>
            <a:off x="4438650" y="12001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noGrp="1"/>
          </p:cNvSpPr>
          <p:nvPr/>
        </p:nvSpPr>
        <p:spPr>
          <a:xfrm>
            <a:off x="4514850" y="126682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 · 권한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noGrp="1"/>
          </p:cNvSpPr>
          <p:nvPr/>
        </p:nvSpPr>
        <p:spPr>
          <a:xfrm>
            <a:off x="4514850" y="152400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NT-03 · 필수·선택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noGrp="1"/>
          </p:cNvSpPr>
          <p:nvPr/>
        </p:nvSpPr>
        <p:spPr>
          <a:xfrm>
            <a:off x="6267450" y="12001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noGrp="1"/>
          </p:cNvSpPr>
          <p:nvPr/>
        </p:nvSpPr>
        <p:spPr>
          <a:xfrm>
            <a:off x="6343650" y="126682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noGrp="1"/>
          </p:cNvSpPr>
          <p:nvPr/>
        </p:nvSpPr>
        <p:spPr>
          <a:xfrm>
            <a:off x="6343650" y="152400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NT-04 · Watch 선택·얼굴 측정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noGrp="1"/>
          </p:cNvSpPr>
          <p:nvPr/>
        </p:nvSpPr>
        <p:spPr>
          <a:xfrm>
            <a:off x="6343650" y="246697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noGrp="1"/>
          </p:cNvSpPr>
          <p:nvPr/>
        </p:nvSpPr>
        <p:spPr>
          <a:xfrm>
            <a:off x="6343650" y="272415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NT-05 · 지금/나중에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noGrp="1"/>
          </p:cNvSpPr>
          <p:nvPr/>
        </p:nvSpPr>
        <p:spPr>
          <a:xfrm>
            <a:off x="4476750" y="24003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noGrp="1"/>
          </p:cNvSpPr>
          <p:nvPr/>
        </p:nvSpPr>
        <p:spPr>
          <a:xfrm>
            <a:off x="4552950" y="246697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noGrp="1"/>
          </p:cNvSpPr>
          <p:nvPr/>
        </p:nvSpPr>
        <p:spPr>
          <a:xfrm>
            <a:off x="4552950" y="272415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NT-06 · 8문항·7단계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noGrp="1"/>
          </p:cNvSpPr>
          <p:nvPr/>
        </p:nvSpPr>
        <p:spPr>
          <a:xfrm>
            <a:off x="2686050" y="24003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noGrp="1"/>
          </p:cNvSpPr>
          <p:nvPr/>
        </p:nvSpPr>
        <p:spPr>
          <a:xfrm>
            <a:off x="2762250" y="246697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noGrp="1"/>
          </p:cNvSpPr>
          <p:nvPr/>
        </p:nvSpPr>
        <p:spPr>
          <a:xfrm>
            <a:off x="2762250" y="272415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NT-07 · 문자·음성·TTS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noGrp="1"/>
          </p:cNvSpPr>
          <p:nvPr/>
        </p:nvSpPr>
        <p:spPr>
          <a:xfrm>
            <a:off x="971550" y="246697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NT-08 · 단계·이벤트·AUQ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noGrp="1"/>
          </p:cNvSpPr>
          <p:nvPr/>
        </p:nvSpPr>
        <p:spPr>
          <a:xfrm>
            <a:off x="6096000" y="3067050"/>
            <a:ext cx="2095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선택하면 홈을 유지합니다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noGrp="1"/>
          </p:cNvSpPr>
          <p:nvPr/>
        </p:nvSpPr>
        <p:spPr>
          <a:xfrm>
            <a:off x="323850" y="3638550"/>
            <a:ext cx="2705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noGrp="1"/>
          </p:cNvSpPr>
          <p:nvPr/>
        </p:nvSpPr>
        <p:spPr>
          <a:xfrm>
            <a:off x="476250" y="3733800"/>
            <a:ext cx="24003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noGrp="1"/>
          </p:cNvSpPr>
          <p:nvPr/>
        </p:nvSpPr>
        <p:spPr>
          <a:xfrm>
            <a:off x="476250" y="4057650"/>
            <a:ext cx="24003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· 선택형 Watch</a:t>
            </a:r>
          </a:p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설정: 우측 상단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noGrp="1"/>
          </p:cNvSpPr>
          <p:nvPr/>
        </p:nvSpPr>
        <p:spPr>
          <a:xfrm>
            <a:off x="3219450" y="3638550"/>
            <a:ext cx="2705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noGrp="1"/>
          </p:cNvSpPr>
          <p:nvPr/>
        </p:nvSpPr>
        <p:spPr>
          <a:xfrm>
            <a:off x="3371850" y="3733800"/>
            <a:ext cx="24003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noGrp="1"/>
          </p:cNvSpPr>
          <p:nvPr/>
        </p:nvSpPr>
        <p:spPr>
          <a:xfrm>
            <a:off x="3371850" y="4095750"/>
            <a:ext cx="24003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4단계 중첩 · 이벤트 · AUQ X/56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noGrp="1"/>
          </p:cNvSpPr>
          <p:nvPr/>
        </p:nvSpPr>
        <p:spPr>
          <a:xfrm>
            <a:off x="6115050" y="3638550"/>
            <a:ext cx="2705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noGrp="1"/>
          </p:cNvSpPr>
          <p:nvPr/>
        </p:nvSpPr>
        <p:spPr>
          <a:xfrm>
            <a:off x="6267450" y="3733800"/>
            <a:ext cx="24003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챗봇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noGrp="1"/>
          </p:cNvSpPr>
          <p:nvPr/>
        </p:nvSpPr>
        <p:spPr>
          <a:xfrm>
            <a:off x="6267450" y="4095750"/>
            <a:ext cx="24003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문자·음성 동일 대화 · TTS 듣기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noGrp="1"/>
          </p:cNvSpPr>
          <p:nvPr/>
        </p:nvSpPr>
        <p:spPr>
          <a:xfrm>
            <a:off x="41910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noGrp="1"/>
          </p:cNvSpPr>
          <p:nvPr/>
        </p:nvSpPr>
        <p:spPr>
          <a:xfrm>
            <a:off x="211455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noGrp="1"/>
          </p:cNvSpPr>
          <p:nvPr/>
        </p:nvSpPr>
        <p:spPr>
          <a:xfrm>
            <a:off x="381000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권한</a:t>
            </a:r>
          </a:p>
        </p:txBody>
      </p:sp>
      <p:pic>
        <p:nvPicPr>
          <p:cNvPr id="32" name="그림 29"/>
          <p:cNvPicPr>
            <a:picLocks noChangeAspect="1"/>
          </p:cNvPicPr>
          <p:nvPr/>
        </p:nvPicPr>
        <p:blipFill>
          <a:blip r:embed="rId3"/>
          <a:srcRect t="1296" b="1296"/>
          <a:stretch>
            <a:fillRect/>
          </a:stretch>
        </p:blipFill>
        <p:spPr>
          <a:xfrm>
            <a:off x="4191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0"/>
          <p:cNvPicPr>
            <a:picLocks noChangeAspect="1"/>
          </p:cNvPicPr>
          <p:nvPr/>
        </p:nvPicPr>
        <p:blipFill>
          <a:blip r:embed="rId4"/>
          <a:srcRect t="1296" b="1296"/>
          <a:stretch>
            <a:fillRect/>
          </a:stretch>
        </p:blipFill>
        <p:spPr>
          <a:xfrm>
            <a:off x="211455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그림 31"/>
          <p:cNvPicPr>
            <a:picLocks noChangeAspect="1"/>
          </p:cNvPicPr>
          <p:nvPr/>
        </p:nvPicPr>
        <p:blipFill>
          <a:blip r:embed="rId5"/>
          <a:srcRect t="1296" b="1296"/>
          <a:stretch>
            <a:fillRect/>
          </a:stretch>
        </p:blipFill>
        <p:spPr>
          <a:xfrm>
            <a:off x="38100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8AC91-CABD-4352-88D3-734CA265E124}"/>
              </a:ext>
            </a:extLst>
          </p:cNvPr>
          <p:cNvSpPr>
            <a:spLocks noGrp="1"/>
          </p:cNvSpPr>
          <p:nvPr/>
        </p:nvSpPr>
        <p:spPr>
          <a:xfrm>
            <a:off x="5657850" y="1200150"/>
            <a:ext cx="31623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410F668-7858-4CBC-AF5B-E8EFEB8025D5}"/>
              </a:ext>
            </a:extLst>
          </p:cNvPr>
          <p:cNvSpPr>
            <a:spLocks noGrp="1"/>
          </p:cNvSpPr>
          <p:nvPr/>
        </p:nvSpPr>
        <p:spPr>
          <a:xfrm>
            <a:off x="579120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5FBC9C2-35AF-421F-92F5-486A7F8D307F}"/>
              </a:ext>
            </a:extLst>
          </p:cNvPr>
          <p:cNvSpPr>
            <a:spLocks noGrp="1"/>
          </p:cNvSpPr>
          <p:nvPr/>
        </p:nvSpPr>
        <p:spPr>
          <a:xfrm>
            <a:off x="579120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A3AB8D-2265-4944-A161-CE79FFB634E4}"/>
              </a:ext>
            </a:extLst>
          </p:cNvPr>
          <p:cNvSpPr>
            <a:spLocks noGrp="1"/>
          </p:cNvSpPr>
          <p:nvPr/>
        </p:nvSpPr>
        <p:spPr>
          <a:xfrm>
            <a:off x="6153150" y="1295400"/>
            <a:ext cx="25146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 후 가입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8CB577-274C-42D8-818C-235B133FE04B}"/>
              </a:ext>
            </a:extLst>
          </p:cNvPr>
          <p:cNvSpPr>
            <a:spLocks noGrp="1"/>
          </p:cNvSpPr>
          <p:nvPr/>
        </p:nvSpPr>
        <p:spPr>
          <a:xfrm>
            <a:off x="5810250" y="1657350"/>
            <a:ext cx="2857500" cy="971550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 대상과 한계를 먼저 설명한 뒤 환자가 직접 가입합니다. 인증 전에는 하단 탭을 표시하지 않습니다.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65C995D-6487-4C00-BF9E-FB4F05390AEA}"/>
              </a:ext>
            </a:extLst>
          </p:cNvPr>
          <p:cNvSpPr>
            <a:spLocks noGrp="1"/>
          </p:cNvSpPr>
          <p:nvPr/>
        </p:nvSpPr>
        <p:spPr>
          <a:xfrm>
            <a:off x="5657850" y="2914650"/>
            <a:ext cx="31623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9E9DEE0-F60C-4514-BA6F-3A402368B726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28E4DDB-694B-4ED3-B33C-D568A2F63772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4323B78-49E0-4714-9E09-126454AB485E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25146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 권한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07429BF-3545-4FFD-85D6-6E4CD5370E1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2857500" cy="971550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음성·카메라는 선택 동의로 관리하고, 실제 기능을 처음 열 때 마이크·카메라 권한을 요청합니다. 저장 후 홈으로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12841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갈망 상태 · 선택형 Watch · 얼굴 측정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2A2267-CBCF-43A7-AE84-A88CC602D566}"/>
              </a:ext>
            </a:extLst>
          </p:cNvPr>
          <p:cNvSpPr>
            <a:spLocks noGrp="1"/>
          </p:cNvSpPr>
          <p:nvPr/>
        </p:nvSpPr>
        <p:spPr>
          <a:xfrm>
            <a:off x="3067050" y="1143000"/>
            <a:ext cx="5753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D9DF939-8699-45BA-A5DB-BB854D2F6C9D}"/>
              </a:ext>
            </a:extLst>
          </p:cNvPr>
          <p:cNvSpPr>
            <a:spLocks noGrp="1"/>
          </p:cNvSpPr>
          <p:nvPr/>
        </p:nvSpPr>
        <p:spPr>
          <a:xfrm>
            <a:off x="3200400" y="1276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A8E7131-9C58-484D-B009-F1874B48FB60}"/>
              </a:ext>
            </a:extLst>
          </p:cNvPr>
          <p:cNvSpPr>
            <a:spLocks noGrp="1"/>
          </p:cNvSpPr>
          <p:nvPr/>
        </p:nvSpPr>
        <p:spPr>
          <a:xfrm>
            <a:off x="3200400" y="1276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3C6993-0594-4A19-8AC2-14302471307F}"/>
              </a:ext>
            </a:extLst>
          </p:cNvPr>
          <p:cNvSpPr>
            <a:spLocks noGrp="1"/>
          </p:cNvSpPr>
          <p:nvPr/>
        </p:nvSpPr>
        <p:spPr>
          <a:xfrm>
            <a:off x="3562350" y="1238250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DCBAFD8-C422-4916-8E29-4C2BB5020D06}"/>
              </a:ext>
            </a:extLst>
          </p:cNvPr>
          <p:cNvSpPr>
            <a:spLocks noGrp="1"/>
          </p:cNvSpPr>
          <p:nvPr/>
        </p:nvSpPr>
        <p:spPr>
          <a:xfrm>
            <a:off x="3219450" y="1600200"/>
            <a:ext cx="54483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요약을 첫 카드로 보여 줍니다. 계정·동의·권한은 우측 상단 설정에서 엽니다.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C30AA38-ECFC-40A5-87FC-211140FCF8EE}"/>
              </a:ext>
            </a:extLst>
          </p:cNvPr>
          <p:cNvSpPr>
            <a:spLocks noGrp="1"/>
          </p:cNvSpPr>
          <p:nvPr/>
        </p:nvSpPr>
        <p:spPr>
          <a:xfrm>
            <a:off x="3067051" y="2252472"/>
            <a:ext cx="57531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158B547-0FA5-4F54-8471-CA3FF32C6C81}"/>
              </a:ext>
            </a:extLst>
          </p:cNvPr>
          <p:cNvSpPr>
            <a:spLocks noGrp="1"/>
          </p:cNvSpPr>
          <p:nvPr/>
        </p:nvSpPr>
        <p:spPr>
          <a:xfrm>
            <a:off x="3200400" y="2419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3251F6-C530-4D57-9052-4004CC0E9064}"/>
              </a:ext>
            </a:extLst>
          </p:cNvPr>
          <p:cNvSpPr>
            <a:spLocks noGrp="1"/>
          </p:cNvSpPr>
          <p:nvPr/>
        </p:nvSpPr>
        <p:spPr>
          <a:xfrm>
            <a:off x="3200400" y="2419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37EFB6-036E-41B7-8689-76AB82685B8D}"/>
              </a:ext>
            </a:extLst>
          </p:cNvPr>
          <p:cNvSpPr>
            <a:spLocks noGrp="1"/>
          </p:cNvSpPr>
          <p:nvPr/>
        </p:nvSpPr>
        <p:spPr>
          <a:xfrm>
            <a:off x="3562350" y="2381250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 · 얼굴 측정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86EB39-26F7-44EF-98C2-F230FC461DF4}"/>
              </a:ext>
            </a:extLst>
          </p:cNvPr>
          <p:cNvSpPr>
            <a:spLocks noGrp="1"/>
          </p:cNvSpPr>
          <p:nvPr/>
        </p:nvSpPr>
        <p:spPr>
          <a:xfrm>
            <a:off x="3219450" y="2743200"/>
            <a:ext cx="5448300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갈망은 4단계 문구로 표시합니다. 얼굴 측정은 동의와 서버 준비가 완료된 경우에만 실행합니다.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AADC70-517D-4175-B7CC-138F54140481}"/>
              </a:ext>
            </a:extLst>
          </p:cNvPr>
          <p:cNvSpPr>
            <a:spLocks noGrp="1"/>
          </p:cNvSpPr>
          <p:nvPr/>
        </p:nvSpPr>
        <p:spPr>
          <a:xfrm>
            <a:off x="3067050" y="3543300"/>
            <a:ext cx="5753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0F0778B-B9B1-4042-9382-D68326BAFD0D}"/>
              </a:ext>
            </a:extLst>
          </p:cNvPr>
          <p:cNvSpPr>
            <a:spLocks noGrp="1"/>
          </p:cNvSpPr>
          <p:nvPr/>
        </p:nvSpPr>
        <p:spPr>
          <a:xfrm>
            <a:off x="3200400" y="36766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9BCBD32-B3F6-4148-891A-DDD66FC610BB}"/>
              </a:ext>
            </a:extLst>
          </p:cNvPr>
          <p:cNvSpPr>
            <a:spLocks noGrp="1"/>
          </p:cNvSpPr>
          <p:nvPr/>
        </p:nvSpPr>
        <p:spPr>
          <a:xfrm>
            <a:off x="3200400" y="36766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B4CBA0-B344-40FD-94D3-BCDD5EC44207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 선택 · 얼굴 대체 측정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860FE89-C4BB-4AFD-BD67-B4110EE94BB8}"/>
              </a:ext>
            </a:extLst>
          </p:cNvPr>
          <p:cNvSpPr>
            <a:spLocks noGrp="1"/>
          </p:cNvSpPr>
          <p:nvPr/>
        </p:nvSpPr>
        <p:spPr>
          <a:xfrm>
            <a:off x="3219450" y="4000500"/>
            <a:ext cx="54483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연결 시 Watch 모니터링과 보조 버튼을 유지합니다. 미연결 시 20초 얼굴 측정을 주 동작으로 제공합니다.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1047750" y="1066800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pic>
        <p:nvPicPr>
          <p:cNvPr id="46" name="그림 27"/>
          <p:cNvPicPr>
            <a:picLocks noChangeAspect="1"/>
          </p:cNvPicPr>
          <p:nvPr/>
        </p:nvPicPr>
        <p:blipFill rotWithShape="1">
          <a:blip r:embed="rId3"/>
          <a:srcRect l="14" r="14" b="72186"/>
          <a:stretch/>
        </p:blipFill>
        <p:spPr>
          <a:xfrm>
            <a:off x="704962" y="1238250"/>
            <a:ext cx="1887215" cy="1166792"/>
          </a:xfrm>
          <a:prstGeom prst="rect">
            <a:avLst/>
          </a:prstGeom>
          <a:ln>
            <a:noFill/>
          </a:ln>
        </p:spPr>
      </p:pic>
      <p:pic>
        <p:nvPicPr>
          <p:cNvPr id="47" name="그림 5"/>
          <p:cNvPicPr>
            <a:picLocks noChangeAspect="1"/>
          </p:cNvPicPr>
          <p:nvPr/>
        </p:nvPicPr>
        <p:blipFill rotWithShape="1">
          <a:blip r:embed="rId4"/>
          <a:srcRect t="21744" b="49745"/>
          <a:stretch/>
        </p:blipFill>
        <p:spPr>
          <a:xfrm>
            <a:off x="703383" y="2405043"/>
            <a:ext cx="1888794" cy="1166792"/>
          </a:xfrm>
          <a:prstGeom prst="rect">
            <a:avLst/>
          </a:prstGeom>
        </p:spPr>
      </p:pic>
      <p:pic>
        <p:nvPicPr>
          <p:cNvPr id="48" name="그림 24"/>
          <p:cNvPicPr>
            <a:picLocks noChangeAspect="1"/>
          </p:cNvPicPr>
          <p:nvPr/>
        </p:nvPicPr>
        <p:blipFill rotWithShape="1">
          <a:blip r:embed="rId4"/>
          <a:srcRect t="77125"/>
          <a:stretch/>
        </p:blipFill>
        <p:spPr>
          <a:xfrm>
            <a:off x="704962" y="3571836"/>
            <a:ext cx="1888794" cy="93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7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BDCC56-BC50-4F2F-9CF6-9D7DC6DB6A66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— AUQ 또는 바로 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EDB5A8-8F4F-4A94-8C3D-9840CA53B28D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7635AC-A52A-4924-A67F-A32A6FD0329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60C21C-4C66-4EDE-8DBD-ECAF23CF0EF3}"/>
              </a:ext>
            </a:extLst>
          </p:cNvPr>
          <p:cNvSpPr>
            <a:spLocks noGrp="1"/>
          </p:cNvSpPr>
          <p:nvPr/>
        </p:nvSpPr>
        <p:spPr>
          <a:xfrm>
            <a:off x="34290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61FC78-C7B1-42C3-ADE5-83DCA6D60CCC}"/>
              </a:ext>
            </a:extLst>
          </p:cNvPr>
          <p:cNvSpPr>
            <a:spLocks noGrp="1"/>
          </p:cNvSpPr>
          <p:nvPr/>
        </p:nvSpPr>
        <p:spPr>
          <a:xfrm>
            <a:off x="203835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4AEF14-72EB-4128-A361-429ED848066D}"/>
              </a:ext>
            </a:extLst>
          </p:cNvPr>
          <p:cNvSpPr>
            <a:spLocks noGrp="1"/>
          </p:cNvSpPr>
          <p:nvPr/>
        </p:nvSpPr>
        <p:spPr>
          <a:xfrm>
            <a:off x="373380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39" name="그림 34"/>
          <p:cNvPicPr>
            <a:picLocks noChangeAspect="1"/>
          </p:cNvPicPr>
          <p:nvPr/>
        </p:nvPicPr>
        <p:blipFill>
          <a:blip r:embed="rId3"/>
          <a:srcRect t="1" b="1"/>
          <a:stretch>
            <a:fillRect/>
          </a:stretch>
        </p:blipFill>
        <p:spPr>
          <a:xfrm>
            <a:off x="34290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그림 35"/>
          <p:cNvPicPr>
            <a:picLocks noChangeAspect="1"/>
          </p:cNvPicPr>
          <p:nvPr/>
        </p:nvPicPr>
        <p:blipFill>
          <a:blip r:embed="rId4"/>
          <a:srcRect t="1" b="1"/>
          <a:stretch>
            <a:fillRect/>
          </a:stretch>
        </p:blipFill>
        <p:spPr>
          <a:xfrm>
            <a:off x="203835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그림 36"/>
          <p:cNvPicPr>
            <a:picLocks noChangeAspect="1"/>
          </p:cNvPicPr>
          <p:nvPr/>
        </p:nvPicPr>
        <p:blipFill>
          <a:blip r:embed="rId5"/>
          <a:srcRect t="1" b="1"/>
          <a:stretch>
            <a:fillRect/>
          </a:stretch>
        </p:blipFill>
        <p:spPr>
          <a:xfrm>
            <a:off x="373380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F0A7FDB-54A7-4A67-BBB3-6CCA0BCDE104}"/>
              </a:ext>
            </a:extLst>
          </p:cNvPr>
          <p:cNvSpPr>
            <a:spLocks noGrp="1"/>
          </p:cNvSpPr>
          <p:nvPr/>
        </p:nvSpPr>
        <p:spPr>
          <a:xfrm>
            <a:off x="5505450" y="1200150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52FC983-F715-4EEF-9F5E-AE6AED9A6193}"/>
              </a:ext>
            </a:extLst>
          </p:cNvPr>
          <p:cNvSpPr>
            <a:spLocks noGrp="1"/>
          </p:cNvSpPr>
          <p:nvPr/>
        </p:nvSpPr>
        <p:spPr>
          <a:xfrm>
            <a:off x="563880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A57369C-7B38-4C56-9350-83873CBBFF0A}"/>
              </a:ext>
            </a:extLst>
          </p:cNvPr>
          <p:cNvSpPr>
            <a:spLocks noGrp="1"/>
          </p:cNvSpPr>
          <p:nvPr/>
        </p:nvSpPr>
        <p:spPr>
          <a:xfrm>
            <a:off x="563880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0944AE5-FA55-4454-BA8F-E0FBC89A58E0}"/>
              </a:ext>
            </a:extLst>
          </p:cNvPr>
          <p:cNvSpPr>
            <a:spLocks noGrp="1"/>
          </p:cNvSpPr>
          <p:nvPr/>
        </p:nvSpPr>
        <p:spPr>
          <a:xfrm>
            <a:off x="6000750" y="129540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BDDEC3A-0E2F-4578-922E-52FB1E1E5AF5}"/>
              </a:ext>
            </a:extLst>
          </p:cNvPr>
          <p:cNvSpPr>
            <a:spLocks noGrp="1"/>
          </p:cNvSpPr>
          <p:nvPr/>
        </p:nvSpPr>
        <p:spPr>
          <a:xfrm>
            <a:off x="5657850" y="1657350"/>
            <a:ext cx="30099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 대화하기와 나중에를 두 선택으로 제공합니다.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5023C45-3E3E-4BD5-BA16-3EFF63838529}"/>
              </a:ext>
            </a:extLst>
          </p:cNvPr>
          <p:cNvSpPr>
            <a:spLocks noGrp="1"/>
          </p:cNvSpPr>
          <p:nvPr/>
        </p:nvSpPr>
        <p:spPr>
          <a:xfrm>
            <a:off x="5505450" y="2324100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6253928-0022-4B21-8A39-97DC5B37EC27}"/>
              </a:ext>
            </a:extLst>
          </p:cNvPr>
          <p:cNvSpPr>
            <a:spLocks noGrp="1"/>
          </p:cNvSpPr>
          <p:nvPr/>
        </p:nvSpPr>
        <p:spPr>
          <a:xfrm>
            <a:off x="5638800" y="24574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3B8BB9A-F3CE-4269-8868-428D8C117C5A}"/>
              </a:ext>
            </a:extLst>
          </p:cNvPr>
          <p:cNvSpPr>
            <a:spLocks noGrp="1"/>
          </p:cNvSpPr>
          <p:nvPr/>
        </p:nvSpPr>
        <p:spPr>
          <a:xfrm>
            <a:off x="5638800" y="24574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704EB93-DAB9-45AB-8201-16168689664D}"/>
              </a:ext>
            </a:extLst>
          </p:cNvPr>
          <p:cNvSpPr>
            <a:spLocks noGrp="1"/>
          </p:cNvSpPr>
          <p:nvPr/>
        </p:nvSpPr>
        <p:spPr>
          <a:xfrm>
            <a:off x="6000750" y="241935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5E4FB05-B622-4A99-987A-C187A091F7D4}"/>
              </a:ext>
            </a:extLst>
          </p:cNvPr>
          <p:cNvSpPr>
            <a:spLocks noGrp="1"/>
          </p:cNvSpPr>
          <p:nvPr/>
        </p:nvSpPr>
        <p:spPr>
          <a:xfrm>
            <a:off x="5657850" y="2781300"/>
            <a:ext cx="30099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8문항을 문장형 7단계로 답하거나 건너뜁니다. 총점은 8~56으로 기록하고 대화를 막지 않습니다.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A443055-E243-4AE2-A3C4-B9901F52F55E}"/>
              </a:ext>
            </a:extLst>
          </p:cNvPr>
          <p:cNvSpPr>
            <a:spLocks noGrp="1"/>
          </p:cNvSpPr>
          <p:nvPr/>
        </p:nvSpPr>
        <p:spPr>
          <a:xfrm>
            <a:off x="5505450" y="3448050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256FEC1-265D-457E-874C-E72FE31D01CF}"/>
              </a:ext>
            </a:extLst>
          </p:cNvPr>
          <p:cNvSpPr>
            <a:spLocks noGrp="1"/>
          </p:cNvSpPr>
          <p:nvPr/>
        </p:nvSpPr>
        <p:spPr>
          <a:xfrm>
            <a:off x="5638800" y="35814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AA87838-B029-4861-9382-81661E919EA0}"/>
              </a:ext>
            </a:extLst>
          </p:cNvPr>
          <p:cNvSpPr>
            <a:spLocks noGrp="1"/>
          </p:cNvSpPr>
          <p:nvPr/>
        </p:nvSpPr>
        <p:spPr>
          <a:xfrm>
            <a:off x="5638800" y="35814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CBC1334-72D4-4B08-8148-9A1E069E3027}"/>
              </a:ext>
            </a:extLst>
          </p:cNvPr>
          <p:cNvSpPr>
            <a:spLocks noGrp="1"/>
          </p:cNvSpPr>
          <p:nvPr/>
        </p:nvSpPr>
        <p:spPr>
          <a:xfrm>
            <a:off x="6000750" y="354330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1883732-6D3B-4F40-A0C9-26EF31A3B527}"/>
              </a:ext>
            </a:extLst>
          </p:cNvPr>
          <p:cNvSpPr>
            <a:spLocks noGrp="1"/>
          </p:cNvSpPr>
          <p:nvPr/>
        </p:nvSpPr>
        <p:spPr>
          <a:xfrm>
            <a:off x="5657850" y="3867150"/>
            <a:ext cx="30099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뒤 별도 중재 선택 없이 챗봇을 엽니다. 사용자가 원하는 도움과 상황을 자유롭게 입력합니다.</a:t>
            </a:r>
          </a:p>
        </p:txBody>
      </p:sp>
      <p:sp>
        <p:nvSpPr>
          <p:cNvPr id="31" name="v16-s04-tts-control">
            <a:extLst>
              <a:ext uri="{FF2B5EF4-FFF2-40B4-BE49-F238E27FC236}">
                <a16:creationId xmlns:a16="http://schemas.microsoft.com/office/drawing/2014/main" id="{522DCDA0-215A-4A71-812A-D743E35C6CDB}"/>
              </a:ext>
            </a:extLst>
          </p:cNvPr>
          <p:cNvSpPr>
            <a:spLocks noGrp="1"/>
          </p:cNvSpPr>
          <p:nvPr/>
        </p:nvSpPr>
        <p:spPr>
          <a:xfrm>
            <a:off x="3857625" y="2152650"/>
            <a:ext cx="685800" cy="171450"/>
          </a:xfrm>
          <a:prstGeom prst="roundRect">
            <a:avLst>
              <a:gd name="adj" fmla="val 33333"/>
            </a:avLst>
          </a:prstGeom>
          <a:solidFill>
            <a:srgbClr val="000000">
              <a:alpha val="0"/>
            </a:srgbClr>
          </a:solidFill>
          <a:ln w="11906">
            <a:solidFill>
              <a:srgbClr val="20847C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defRPr sz="615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TTS · 듣기/정지</a:t>
            </a:r>
          </a:p>
        </p:txBody>
      </p:sp>
      <p:sp>
        <p:nvSpPr>
          <p:cNvPr id="32" name="v16-s04-stt-control">
            <a:extLst>
              <a:ext uri="{FF2B5EF4-FFF2-40B4-BE49-F238E27FC236}">
                <a16:creationId xmlns:a16="http://schemas.microsoft.com/office/drawing/2014/main" id="{DF91281B-367E-45B9-8BB1-C2103D787779}"/>
              </a:ext>
            </a:extLst>
          </p:cNvPr>
          <p:cNvSpPr>
            <a:spLocks noGrp="1"/>
          </p:cNvSpPr>
          <p:nvPr/>
        </p:nvSpPr>
        <p:spPr>
          <a:xfrm>
            <a:off x="4305300" y="3524250"/>
            <a:ext cx="742950" cy="171450"/>
          </a:xfrm>
          <a:prstGeom prst="roundRect">
            <a:avLst>
              <a:gd name="adj" fmla="val 33333"/>
            </a:avLst>
          </a:prstGeom>
          <a:solidFill>
            <a:srgbClr val="000000">
              <a:alpha val="0"/>
            </a:srgbClr>
          </a:solidFill>
          <a:ln w="11906">
            <a:solidFill>
              <a:srgbClr val="20847C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defRPr sz="638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STT · 마이크</a:t>
            </a:r>
          </a:p>
        </p:txBody>
      </p:sp>
    </p:spTree>
    <p:extLst>
      <p:ext uri="{BB962C8B-B14F-4D97-AF65-F5344CB8AC3E}">
        <p14:creationId xmlns:p14="http://schemas.microsoft.com/office/powerpoint/2010/main" val="203200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30E237-A196-4DE3-859B-D85FDAD7962F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 — STT·TTS 버튼과 동일 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1F051B-B40B-4A60-912B-6DD8227641D2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632342-6214-4507-86C5-56A6FA8E9F7B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74571C-46F9-4314-B385-E00C0458D92E}"/>
              </a:ext>
            </a:extLst>
          </p:cNvPr>
          <p:cNvSpPr>
            <a:spLocks noGrp="1"/>
          </p:cNvSpPr>
          <p:nvPr/>
        </p:nvSpPr>
        <p:spPr>
          <a:xfrm>
            <a:off x="552450" y="1024128"/>
            <a:ext cx="16192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텍스트·음성 입력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ABAF18-84ED-413E-8167-4E8D85EFB614}"/>
              </a:ext>
            </a:extLst>
          </p:cNvPr>
          <p:cNvSpPr>
            <a:spLocks noGrp="1"/>
          </p:cNvSpPr>
          <p:nvPr/>
        </p:nvSpPr>
        <p:spPr>
          <a:xfrm>
            <a:off x="2590800" y="1024128"/>
            <a:ext cx="16192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응답·TTS</a:t>
            </a:r>
          </a:p>
        </p:txBody>
      </p:sp>
      <p:pic>
        <p:nvPicPr>
          <p:cNvPr id="35" name="그림 31"/>
          <p:cNvPicPr>
            <a:picLocks noChangeAspect="1"/>
          </p:cNvPicPr>
          <p:nvPr/>
        </p:nvPicPr>
        <p:blipFill>
          <a:blip r:embed="rId3"/>
          <a:srcRect l="29" r="29"/>
          <a:stretch>
            <a:fillRect/>
          </a:stretch>
        </p:blipFill>
        <p:spPr>
          <a:xfrm>
            <a:off x="552450" y="1233678"/>
            <a:ext cx="1619250" cy="3600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그림 32"/>
          <p:cNvPicPr>
            <a:picLocks noChangeAspect="1"/>
          </p:cNvPicPr>
          <p:nvPr/>
        </p:nvPicPr>
        <p:blipFill>
          <a:blip r:embed="rId4"/>
          <a:srcRect l="29" r="29"/>
          <a:stretch>
            <a:fillRect/>
          </a:stretch>
        </p:blipFill>
        <p:spPr>
          <a:xfrm>
            <a:off x="2590800" y="1233678"/>
            <a:ext cx="1619250" cy="3600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4A04A9-4EFA-40A2-AD42-4FF0AEFDDDF1}"/>
              </a:ext>
            </a:extLst>
          </p:cNvPr>
          <p:cNvSpPr>
            <a:spLocks noGrp="1"/>
          </p:cNvSpPr>
          <p:nvPr/>
        </p:nvSpPr>
        <p:spPr>
          <a:xfrm>
            <a:off x="4686300" y="1200150"/>
            <a:ext cx="41338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E8FFBB8-8FED-4FD3-B8A1-5FFDCD2BFE5C}"/>
              </a:ext>
            </a:extLst>
          </p:cNvPr>
          <p:cNvSpPr>
            <a:spLocks noGrp="1"/>
          </p:cNvSpPr>
          <p:nvPr/>
        </p:nvSpPr>
        <p:spPr>
          <a:xfrm>
            <a:off x="481965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E6233A-3291-4546-8F0C-277861A78FC3}"/>
              </a:ext>
            </a:extLst>
          </p:cNvPr>
          <p:cNvSpPr>
            <a:spLocks noGrp="1"/>
          </p:cNvSpPr>
          <p:nvPr/>
        </p:nvSpPr>
        <p:spPr>
          <a:xfrm>
            <a:off x="481965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5B23F76-9331-4F0E-B642-71FBEA8E8417}"/>
              </a:ext>
            </a:extLst>
          </p:cNvPr>
          <p:cNvSpPr>
            <a:spLocks noGrp="1"/>
          </p:cNvSpPr>
          <p:nvPr/>
        </p:nvSpPr>
        <p:spPr>
          <a:xfrm>
            <a:off x="5181600" y="129540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주도 자유대화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CDED26-3187-4F9A-BF66-FE929C32E619}"/>
              </a:ext>
            </a:extLst>
          </p:cNvPr>
          <p:cNvSpPr>
            <a:spLocks noGrp="1"/>
          </p:cNvSpPr>
          <p:nvPr/>
        </p:nvSpPr>
        <p:spPr>
          <a:xfrm>
            <a:off x="4838700" y="1657350"/>
            <a:ext cx="382905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문자 입력은 inputModality=text로 같은 메시지 API를 사용합니다. AI는 공감·반영을 우선합니다.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29ECD8-B5BB-4DE2-A777-A31BC3680B8B}"/>
              </a:ext>
            </a:extLst>
          </p:cNvPr>
          <p:cNvSpPr>
            <a:spLocks noGrp="1"/>
          </p:cNvSpPr>
          <p:nvPr/>
        </p:nvSpPr>
        <p:spPr>
          <a:xfrm>
            <a:off x="4686300" y="2362200"/>
            <a:ext cx="4133850" cy="1066800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D25AD50-1112-44C6-A1AE-701CAFD01501}"/>
              </a:ext>
            </a:extLst>
          </p:cNvPr>
          <p:cNvSpPr>
            <a:spLocks noGrp="1"/>
          </p:cNvSpPr>
          <p:nvPr/>
        </p:nvSpPr>
        <p:spPr>
          <a:xfrm>
            <a:off x="4819650" y="2495550"/>
            <a:ext cx="285750" cy="285750"/>
          </a:xfrm>
          <a:prstGeom prst="ellipse">
            <a:avLst/>
          </a:prstGeom>
          <a:solidFill>
            <a:srgbClr val="8A5A00"/>
          </a:solidFill>
          <a:ln w="0">
            <a:noFill/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8CA2F00-B819-48CF-824B-2383C6FF5932}"/>
              </a:ext>
            </a:extLst>
          </p:cNvPr>
          <p:cNvSpPr>
            <a:spLocks noGrp="1"/>
          </p:cNvSpPr>
          <p:nvPr/>
        </p:nvSpPr>
        <p:spPr>
          <a:xfrm>
            <a:off x="4819650" y="24955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AFC4D98-9064-4575-9485-0D10CB893462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STT · 마이크/정지/인식 중 버튼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A39FB75-B1C0-4709-B635-980F6932854D}"/>
              </a:ext>
            </a:extLst>
          </p:cNvPr>
          <p:cNvSpPr>
            <a:spLocks noGrp="1"/>
          </p:cNvSpPr>
          <p:nvPr/>
        </p:nvSpPr>
        <p:spPr>
          <a:xfrm>
            <a:off x="4838700" y="2819400"/>
            <a:ext cx="3829050" cy="514350"/>
          </a:xfrm>
          <a:prstGeom prst="roundRect">
            <a:avLst>
              <a:gd name="adj" fmla="val 14815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입력창 옆 버튼으로 녹음을 시작·정지합니다. STT 결과는 편집 후 inputModality=voice로 전송합니다.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E64739B-576A-43BB-A5CB-C96C11E5F4B7}"/>
              </a:ext>
            </a:extLst>
          </p:cNvPr>
          <p:cNvSpPr>
            <a:spLocks noGrp="1"/>
          </p:cNvSpPr>
          <p:nvPr/>
        </p:nvSpPr>
        <p:spPr>
          <a:xfrm>
            <a:off x="4686300" y="3581400"/>
            <a:ext cx="41338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A6DFA7A-4A14-4F55-84E7-0AB446173C47}"/>
              </a:ext>
            </a:extLst>
          </p:cNvPr>
          <p:cNvSpPr>
            <a:spLocks noGrp="1"/>
          </p:cNvSpPr>
          <p:nvPr/>
        </p:nvSpPr>
        <p:spPr>
          <a:xfrm>
            <a:off x="4819650" y="37147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3ADEC42-CEE5-49BA-B29C-6A1CE815769E}"/>
              </a:ext>
            </a:extLst>
          </p:cNvPr>
          <p:cNvSpPr>
            <a:spLocks noGrp="1"/>
          </p:cNvSpPr>
          <p:nvPr/>
        </p:nvSpPr>
        <p:spPr>
          <a:xfrm>
            <a:off x="4819650" y="37147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A1B8C57-7345-42DF-A6E0-E7F1EFB7C2B1}"/>
              </a:ext>
            </a:extLst>
          </p:cNvPr>
          <p:cNvSpPr>
            <a:spLocks noGrp="1"/>
          </p:cNvSpPr>
          <p:nvPr/>
        </p:nvSpPr>
        <p:spPr>
          <a:xfrm>
            <a:off x="5181600" y="367665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 · 듣기/정지 버튼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C607AF0-5C57-49F3-B484-B308FF23EED1}"/>
              </a:ext>
            </a:extLst>
          </p:cNvPr>
          <p:cNvSpPr>
            <a:spLocks noGrp="1"/>
          </p:cNvSpPr>
          <p:nvPr/>
        </p:nvSpPr>
        <p:spPr>
          <a:xfrm>
            <a:off x="4838700" y="4038600"/>
            <a:ext cx="382905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말풍선마다 듣기/정지 버튼을 둡니다. 자동 읽기 스위치와 다시 시도·대화 종료도 제공합니다.</a:t>
            </a:r>
          </a:p>
        </p:txBody>
      </p:sp>
      <p:sp>
        <p:nvSpPr>
          <p:cNvPr id="28" name="v16-s05-stt-control">
            <a:extLst>
              <a:ext uri="{FF2B5EF4-FFF2-40B4-BE49-F238E27FC236}">
                <a16:creationId xmlns:a16="http://schemas.microsoft.com/office/drawing/2014/main" id="{72F5060C-C413-4E90-8626-CD27B91F08CC}"/>
              </a:ext>
            </a:extLst>
          </p:cNvPr>
          <p:cNvSpPr>
            <a:spLocks noGrp="1"/>
          </p:cNvSpPr>
          <p:nvPr/>
        </p:nvSpPr>
        <p:spPr>
          <a:xfrm>
            <a:off x="1238250" y="3810000"/>
            <a:ext cx="819150" cy="190500"/>
          </a:xfrm>
          <a:prstGeom prst="roundRect">
            <a:avLst>
              <a:gd name="adj" fmla="val 30000"/>
            </a:avLst>
          </a:prstGeom>
          <a:solidFill>
            <a:srgbClr val="000000">
              <a:alpha val="0"/>
            </a:srgbClr>
          </a:solidFill>
          <a:ln w="11906">
            <a:solidFill>
              <a:srgbClr val="20847C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defRPr sz="690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STT · 마이크</a:t>
            </a:r>
          </a:p>
        </p:txBody>
      </p:sp>
      <p:sp>
        <p:nvSpPr>
          <p:cNvPr id="29" name="v16-s05-tts-control">
            <a:extLst>
              <a:ext uri="{FF2B5EF4-FFF2-40B4-BE49-F238E27FC236}">
                <a16:creationId xmlns:a16="http://schemas.microsoft.com/office/drawing/2014/main" id="{D5747FCF-C7EC-415E-B3C6-B3157ACB750E}"/>
              </a:ext>
            </a:extLst>
          </p:cNvPr>
          <p:cNvSpPr>
            <a:spLocks noGrp="1"/>
          </p:cNvSpPr>
          <p:nvPr/>
        </p:nvSpPr>
        <p:spPr>
          <a:xfrm>
            <a:off x="3143250" y="3105150"/>
            <a:ext cx="933450" cy="190500"/>
          </a:xfrm>
          <a:prstGeom prst="roundRect">
            <a:avLst>
              <a:gd name="adj" fmla="val 30000"/>
            </a:avLst>
          </a:prstGeom>
          <a:solidFill>
            <a:srgbClr val="000000">
              <a:alpha val="0"/>
            </a:srgbClr>
          </a:solidFill>
          <a:ln w="11906">
            <a:solidFill>
              <a:srgbClr val="20847C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defRPr sz="675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TTS · 듣기/정지</a:t>
            </a:r>
          </a:p>
        </p:txBody>
      </p:sp>
    </p:spTree>
    <p:extLst>
      <p:ext uri="{BB962C8B-B14F-4D97-AF65-F5344CB8AC3E}">
        <p14:creationId xmlns:p14="http://schemas.microsoft.com/office/powerpoint/2010/main" val="103529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8673E2-D046-4E56-988A-82047F9E49A8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갈망 단계 · 이벤트 · AUQ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40A6F7-E9B4-443E-A585-DC8667FBAB4A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C351BC-EC17-4D3F-BEEC-12ECE864262F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841304-95C8-437D-AF2B-AC1D13332F10}"/>
              </a:ext>
            </a:extLst>
          </p:cNvPr>
          <p:cNvSpPr>
            <a:spLocks noGrp="1"/>
          </p:cNvSpPr>
          <p:nvPr/>
        </p:nvSpPr>
        <p:spPr>
          <a:xfrm>
            <a:off x="400050" y="952500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상단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A993AD9-03AF-4B8A-B459-96D602F9300B}"/>
              </a:ext>
            </a:extLst>
          </p:cNvPr>
          <p:cNvSpPr>
            <a:spLocks noGrp="1"/>
          </p:cNvSpPr>
          <p:nvPr/>
        </p:nvSpPr>
        <p:spPr>
          <a:xfrm>
            <a:off x="2190750" y="952500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아래</a:t>
            </a:r>
          </a:p>
        </p:txBody>
      </p:sp>
      <p:pic>
        <p:nvPicPr>
          <p:cNvPr id="34" name="그림 32"/>
          <p:cNvPicPr>
            <a:picLocks noChangeAspect="1"/>
          </p:cNvPicPr>
          <p:nvPr/>
        </p:nvPicPr>
        <p:blipFill>
          <a:blip r:embed="rId3"/>
          <a:srcRect t="1" b="1"/>
          <a:stretch>
            <a:fillRect/>
          </a:stretch>
        </p:blipFill>
        <p:spPr>
          <a:xfrm>
            <a:off x="400050" y="1162050"/>
            <a:ext cx="1562100" cy="3471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rcRect t="1" b="1"/>
          <a:stretch>
            <a:fillRect/>
          </a:stretch>
        </p:blipFill>
        <p:spPr>
          <a:xfrm>
            <a:off x="2190750" y="1162050"/>
            <a:ext cx="1562100" cy="34712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5240B4C-73E4-4A05-A2EB-406BDA2A02FA}"/>
              </a:ext>
            </a:extLst>
          </p:cNvPr>
          <p:cNvSpPr>
            <a:spLocks noGrp="1"/>
          </p:cNvSpPr>
          <p:nvPr/>
        </p:nvSpPr>
        <p:spPr>
          <a:xfrm>
            <a:off x="2190750" y="4648200"/>
            <a:ext cx="15621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같은 스크롤 · 아래 구간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48D10B-8422-4016-957E-7D4BBA43B068}"/>
              </a:ext>
            </a:extLst>
          </p:cNvPr>
          <p:cNvSpPr>
            <a:spLocks noGrp="1"/>
          </p:cNvSpPr>
          <p:nvPr/>
        </p:nvSpPr>
        <p:spPr>
          <a:xfrm>
            <a:off x="4095750" y="1162050"/>
            <a:ext cx="47244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F1FFD8A-693A-425D-A1A3-400ED4737C38}"/>
              </a:ext>
            </a:extLst>
          </p:cNvPr>
          <p:cNvSpPr>
            <a:spLocks noGrp="1"/>
          </p:cNvSpPr>
          <p:nvPr/>
        </p:nvSpPr>
        <p:spPr>
          <a:xfrm>
            <a:off x="4229100" y="12954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6F4491C-AD63-473D-AB3B-AD5ADDFC9797}"/>
              </a:ext>
            </a:extLst>
          </p:cNvPr>
          <p:cNvSpPr>
            <a:spLocks noGrp="1"/>
          </p:cNvSpPr>
          <p:nvPr/>
        </p:nvSpPr>
        <p:spPr>
          <a:xfrm>
            <a:off x="4229100" y="12954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1B0349-D070-4BD2-B2BF-1AD5A9A695BA}"/>
              </a:ext>
            </a:extLst>
          </p:cNvPr>
          <p:cNvSpPr>
            <a:spLocks noGrp="1"/>
          </p:cNvSpPr>
          <p:nvPr/>
        </p:nvSpPr>
        <p:spPr>
          <a:xfrm>
            <a:off x="4591050" y="1257300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단계 중첩 막대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E4095DF-177D-409B-8D44-B06AAAB136A7}"/>
              </a:ext>
            </a:extLst>
          </p:cNvPr>
          <p:cNvSpPr>
            <a:spLocks noGrp="1"/>
          </p:cNvSpPr>
          <p:nvPr/>
        </p:nvSpPr>
        <p:spPr>
          <a:xfrm>
            <a:off x="4248150" y="1619250"/>
            <a:ext cx="4419600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시간별 한 막대에 낮음·관찰·주의·높음 표본 비율을 중첩합니다. 선택하면 단계 비율과 표본 수를 보여 줍니다.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5E6A0EE-0BBE-4D92-8F72-EEAF4991B7D6}"/>
              </a:ext>
            </a:extLst>
          </p:cNvPr>
          <p:cNvSpPr>
            <a:spLocks noGrp="1"/>
          </p:cNvSpPr>
          <p:nvPr/>
        </p:nvSpPr>
        <p:spPr>
          <a:xfrm>
            <a:off x="4095750" y="2190750"/>
            <a:ext cx="47244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D194A8D-59C3-48D5-8EA1-44A98134F1A8}"/>
              </a:ext>
            </a:extLst>
          </p:cNvPr>
          <p:cNvSpPr>
            <a:spLocks noGrp="1"/>
          </p:cNvSpPr>
          <p:nvPr/>
        </p:nvSpPr>
        <p:spPr>
          <a:xfrm>
            <a:off x="4229100" y="23241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D279F1F-DC5D-43D7-AF06-9B1049D8675F}"/>
              </a:ext>
            </a:extLst>
          </p:cNvPr>
          <p:cNvSpPr>
            <a:spLocks noGrp="1"/>
          </p:cNvSpPr>
          <p:nvPr/>
        </p:nvSpPr>
        <p:spPr>
          <a:xfrm>
            <a:off x="4229100" y="23241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9CA1A56-0C2D-4DE7-AC36-CFDB5EB62168}"/>
              </a:ext>
            </a:extLst>
          </p:cNvPr>
          <p:cNvSpPr>
            <a:spLocks noGrp="1"/>
          </p:cNvSpPr>
          <p:nvPr/>
        </p:nvSpPr>
        <p:spPr>
          <a:xfrm>
            <a:off x="4591050" y="2286000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이벤트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304B89F-B348-4D2A-8D37-443AC917417E}"/>
              </a:ext>
            </a:extLst>
          </p:cNvPr>
          <p:cNvSpPr>
            <a:spLocks noGrp="1"/>
          </p:cNvSpPr>
          <p:nvPr/>
        </p:nvSpPr>
        <p:spPr>
          <a:xfrm>
            <a:off x="4248150" y="2647950"/>
            <a:ext cx="44196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알림이 생성된 횟수를 일별 막대로 표시합니다. 데이터 없음과 예측은 있었지만 이벤트 0건인 날을 구분합니다.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F5BFBAD-718C-4770-974D-BD463EEDAFEE}"/>
              </a:ext>
            </a:extLst>
          </p:cNvPr>
          <p:cNvSpPr>
            <a:spLocks noGrp="1"/>
          </p:cNvSpPr>
          <p:nvPr/>
        </p:nvSpPr>
        <p:spPr>
          <a:xfrm>
            <a:off x="4095750" y="3352800"/>
            <a:ext cx="47244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BBE608E-ED7A-4AE7-9EBB-DC84A0A60650}"/>
              </a:ext>
            </a:extLst>
          </p:cNvPr>
          <p:cNvSpPr>
            <a:spLocks noGrp="1"/>
          </p:cNvSpPr>
          <p:nvPr/>
        </p:nvSpPr>
        <p:spPr>
          <a:xfrm>
            <a:off x="4229100" y="34861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ED4F823-7EED-476B-9DE7-7FA165A40F49}"/>
              </a:ext>
            </a:extLst>
          </p:cNvPr>
          <p:cNvSpPr>
            <a:spLocks noGrp="1"/>
          </p:cNvSpPr>
          <p:nvPr/>
        </p:nvSpPr>
        <p:spPr>
          <a:xfrm>
            <a:off x="4229100" y="34861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AA3FE8-00DB-4BA6-989A-5404EA22D733}"/>
              </a:ext>
            </a:extLst>
          </p:cNvPr>
          <p:cNvSpPr>
            <a:spLocks noGrp="1"/>
          </p:cNvSpPr>
          <p:nvPr/>
        </p:nvSpPr>
        <p:spPr>
          <a:xfrm>
            <a:off x="4591050" y="3448050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기록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2647D7A-60CA-4A1F-8A5C-40EFD6239985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4419600" cy="514350"/>
          </a:xfrm>
          <a:prstGeom prst="roundRect">
            <a:avLst>
              <a:gd name="adj" fmla="val 14815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AUQ는 총점 X/56과 응답 횟수로 표시합니다. 선택한 시간·날짜의 평균과 응답 수를 상세로 보여 줍니다.</a:t>
            </a:r>
          </a:p>
        </p:txBody>
      </p:sp>
    </p:spTree>
    <p:extLst>
      <p:ext uri="{BB962C8B-B14F-4D97-AF65-F5344CB8AC3E}">
        <p14:creationId xmlns:p14="http://schemas.microsoft.com/office/powerpoint/2010/main" val="194305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측정 — 20초 rPPG 시나리오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2292858" y="836485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NT-04R · rPPG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2A2267-CBCF-43A7-AE84-A88CC602D566}"/>
              </a:ext>
            </a:extLst>
          </p:cNvPr>
          <p:cNvSpPr>
            <a:spLocks noGrp="1"/>
          </p:cNvSpPr>
          <p:nvPr/>
        </p:nvSpPr>
        <p:spPr>
          <a:xfrm>
            <a:off x="5629276" y="1143000"/>
            <a:ext cx="3190874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D9DF939-8699-45BA-A5DB-BB854D2F6C9D}"/>
              </a:ext>
            </a:extLst>
          </p:cNvPr>
          <p:cNvSpPr>
            <a:spLocks noGrp="1"/>
          </p:cNvSpPr>
          <p:nvPr/>
        </p:nvSpPr>
        <p:spPr>
          <a:xfrm>
            <a:off x="5719761" y="1276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A8E7131-9C58-484D-B009-F1874B48FB60}"/>
              </a:ext>
            </a:extLst>
          </p:cNvPr>
          <p:cNvSpPr>
            <a:spLocks noGrp="1"/>
          </p:cNvSpPr>
          <p:nvPr/>
        </p:nvSpPr>
        <p:spPr>
          <a:xfrm>
            <a:off x="5719761" y="1276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3C6993-0594-4A19-8AC2-14302471307F}"/>
              </a:ext>
            </a:extLst>
          </p:cNvPr>
          <p:cNvSpPr>
            <a:spLocks noGrp="1"/>
          </p:cNvSpPr>
          <p:nvPr/>
        </p:nvSpPr>
        <p:spPr>
          <a:xfrm>
            <a:off x="6005511" y="1238250"/>
            <a:ext cx="10668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진입 조건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DCBAFD8-C422-4916-8E29-4C2BB5020D06}"/>
              </a:ext>
            </a:extLst>
          </p:cNvPr>
          <p:cNvSpPr>
            <a:spLocks noGrp="1"/>
          </p:cNvSpPr>
          <p:nvPr/>
        </p:nvSpPr>
        <p:spPr>
          <a:xfrm>
            <a:off x="5719760" y="1557337"/>
            <a:ext cx="300514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필수 동의 4종과 GET /api/rppg/status의 ready 상태가 모두 필요합니다.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C30AA38-ECFC-40A5-87FC-211140FCF8EE}"/>
              </a:ext>
            </a:extLst>
          </p:cNvPr>
          <p:cNvSpPr>
            <a:spLocks noGrp="1"/>
          </p:cNvSpPr>
          <p:nvPr/>
        </p:nvSpPr>
        <p:spPr>
          <a:xfrm>
            <a:off x="5629275" y="2228850"/>
            <a:ext cx="3190876" cy="12001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158B547-0FA5-4F54-8471-CA3FF32C6C81}"/>
              </a:ext>
            </a:extLst>
          </p:cNvPr>
          <p:cNvSpPr>
            <a:spLocks noGrp="1"/>
          </p:cNvSpPr>
          <p:nvPr/>
        </p:nvSpPr>
        <p:spPr>
          <a:xfrm>
            <a:off x="5719761" y="2419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3251F6-C530-4D57-9052-4004CC0E9064}"/>
              </a:ext>
            </a:extLst>
          </p:cNvPr>
          <p:cNvSpPr>
            <a:spLocks noGrp="1"/>
          </p:cNvSpPr>
          <p:nvPr/>
        </p:nvSpPr>
        <p:spPr>
          <a:xfrm>
            <a:off x="5719761" y="2419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37EFB6-036E-41B7-8689-76AB82685B8D}"/>
              </a:ext>
            </a:extLst>
          </p:cNvPr>
          <p:cNvSpPr>
            <a:spLocks noGrp="1"/>
          </p:cNvSpPr>
          <p:nvPr/>
        </p:nvSpPr>
        <p:spPr>
          <a:xfrm>
            <a:off x="5948360" y="2381250"/>
            <a:ext cx="2366963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안정화 · 20초 촬영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86EB39-26F7-44EF-98C2-F230FC461DF4}"/>
              </a:ext>
            </a:extLst>
          </p:cNvPr>
          <p:cNvSpPr>
            <a:spLocks noGrp="1"/>
          </p:cNvSpPr>
          <p:nvPr/>
        </p:nvSpPr>
        <p:spPr>
          <a:xfrm>
            <a:off x="5719760" y="2743200"/>
            <a:ext cx="3005140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한 얼굴을 안내 영역에서 1초 유지하면 자동 촬영합니다. 촬영 중 1초 이상 이탈하면 취소합니다.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AADC70-517D-4175-B7CC-138F54140481}"/>
              </a:ext>
            </a:extLst>
          </p:cNvPr>
          <p:cNvSpPr>
            <a:spLocks noGrp="1"/>
          </p:cNvSpPr>
          <p:nvPr/>
        </p:nvSpPr>
        <p:spPr>
          <a:xfrm>
            <a:off x="5629276" y="3543300"/>
            <a:ext cx="3190873" cy="1104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0F0778B-B9B1-4042-9382-D68326BAFD0D}"/>
              </a:ext>
            </a:extLst>
          </p:cNvPr>
          <p:cNvSpPr>
            <a:spLocks noGrp="1"/>
          </p:cNvSpPr>
          <p:nvPr/>
        </p:nvSpPr>
        <p:spPr>
          <a:xfrm>
            <a:off x="5719761" y="36766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9BCBD32-B3F6-4148-891A-DDD66FC610BB}"/>
              </a:ext>
            </a:extLst>
          </p:cNvPr>
          <p:cNvSpPr>
            <a:spLocks noGrp="1"/>
          </p:cNvSpPr>
          <p:nvPr/>
        </p:nvSpPr>
        <p:spPr>
          <a:xfrm>
            <a:off x="5719761" y="36766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B4CBA0-B344-40FD-94D3-BCDD5EC44207}"/>
              </a:ext>
            </a:extLst>
          </p:cNvPr>
          <p:cNvSpPr>
            <a:spLocks noGrp="1"/>
          </p:cNvSpPr>
          <p:nvPr/>
        </p:nvSpPr>
        <p:spPr>
          <a:xfrm>
            <a:off x="6005511" y="3638550"/>
            <a:ext cx="1962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업로드 · 분석 · 결과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860FE89-C4BB-4AFD-BD67-B4110EE94BB8}"/>
              </a:ext>
            </a:extLst>
          </p:cNvPr>
          <p:cNvSpPr>
            <a:spLocks noGrp="1"/>
          </p:cNvSpPr>
          <p:nvPr/>
        </p:nvSpPr>
        <p:spPr>
          <a:xfrm>
            <a:off x="5719760" y="4000500"/>
            <a:ext cx="300514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로컬 영상은 촬영 후 삭제합니다. camera_rppg 결과는 Phone에만 반영되고 이후 Watch 예측이 대체합니다.</a:t>
            </a:r>
          </a:p>
        </p:txBody>
      </p:sp>
      <p:pic>
        <p:nvPicPr>
          <p:cNvPr id="46" name="그림 29"/>
          <p:cNvPicPr>
            <a:picLocks noChangeAspect="1"/>
          </p:cNvPicPr>
          <p:nvPr/>
        </p:nvPicPr>
        <p:blipFill>
          <a:blip r:embed="rId3"/>
          <a:srcRect t="1296" b="1296"/>
          <a:stretch>
            <a:fillRect/>
          </a:stretch>
        </p:blipFill>
        <p:spPr>
          <a:xfrm>
            <a:off x="4191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그림 30"/>
          <p:cNvPicPr>
            <a:picLocks noChangeAspect="1"/>
          </p:cNvPicPr>
          <p:nvPr/>
        </p:nvPicPr>
        <p:blipFill>
          <a:blip r:embed="rId4"/>
          <a:srcRect t="1296" b="1296"/>
          <a:stretch>
            <a:fillRect/>
          </a:stretch>
        </p:blipFill>
        <p:spPr>
          <a:xfrm>
            <a:off x="211455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그림 31"/>
          <p:cNvPicPr>
            <a:picLocks noChangeAspect="1"/>
          </p:cNvPicPr>
          <p:nvPr/>
        </p:nvPicPr>
        <p:blipFill>
          <a:blip r:embed="rId5"/>
          <a:srcRect t="1296" b="1296"/>
          <a:stretch>
            <a:fillRect/>
          </a:stretch>
        </p:blipFill>
        <p:spPr>
          <a:xfrm>
            <a:off x="38100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588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1 — 시작·홈·측정 분기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20D69A-C3B2-40BF-A66E-1135E828C2CA}"/>
              </a:ext>
            </a:extLst>
          </p:cNvPr>
          <p:cNvSpPr>
            <a:spLocks noGrp="1"/>
          </p:cNvSpPr>
          <p:nvPr/>
        </p:nvSpPr>
        <p:spPr>
          <a:xfrm>
            <a:off x="34290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B5FCF6B-1E34-4EF9-A39C-283359599553}"/>
              </a:ext>
            </a:extLst>
          </p:cNvPr>
          <p:cNvSpPr>
            <a:spLocks noGrp="1"/>
          </p:cNvSpPr>
          <p:nvPr/>
        </p:nvSpPr>
        <p:spPr>
          <a:xfrm>
            <a:off x="161925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6EB1116-178C-4DD9-BBE3-DCAB3C3A8D8D}"/>
              </a:ext>
            </a:extLst>
          </p:cNvPr>
          <p:cNvSpPr>
            <a:spLocks noGrp="1"/>
          </p:cNvSpPr>
          <p:nvPr/>
        </p:nvSpPr>
        <p:spPr>
          <a:xfrm>
            <a:off x="289560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권한</a:t>
            </a:r>
          </a:p>
        </p:txBody>
      </p:sp>
      <p:pic>
        <p:nvPicPr>
          <p:cNvPr id="66" name="그림 6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7" name="그림 6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73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8" name="그림 6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146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04D1B42-59B7-4851-815D-97DE6DA8CFD2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36766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66A88C7-1910-4D0F-9A9E-241DA5018747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35242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홈과 측정 분기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8269154-2842-4FBC-9A45-53CCC43B7BFF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35242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설정 → NT-09 · 탭 → NT-08/NT-07 · Watch 상태 → NT-04R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A9AF464-1B6E-47F0-AC87-64220763CA73}"/>
              </a:ext>
            </a:extLst>
          </p:cNvPr>
          <p:cNvSpPr>
            <a:spLocks noGrp="1"/>
          </p:cNvSpPr>
          <p:nvPr/>
        </p:nvSpPr>
        <p:spPr>
          <a:xfrm>
            <a:off x="4705350" y="1009650"/>
            <a:ext cx="10668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3A82640-EB3A-404A-A62B-CD29E91424EE}"/>
              </a:ext>
            </a:extLst>
          </p:cNvPr>
          <p:cNvSpPr>
            <a:spLocks noGrp="1"/>
          </p:cNvSpPr>
          <p:nvPr/>
        </p:nvSpPr>
        <p:spPr>
          <a:xfrm>
            <a:off x="6038850" y="1009650"/>
            <a:ext cx="14668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D5FBFA8-193C-4246-8B8C-729999658518}"/>
              </a:ext>
            </a:extLst>
          </p:cNvPr>
          <p:cNvSpPr>
            <a:spLocks noGrp="1"/>
          </p:cNvSpPr>
          <p:nvPr/>
        </p:nvSpPr>
        <p:spPr>
          <a:xfrm>
            <a:off x="7772400" y="10096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E7D5C803-AE87-451A-B28C-01AF0AEE094F}"/>
              </a:ext>
            </a:extLst>
          </p:cNvPr>
          <p:cNvSpPr>
            <a:spLocks noGrp="1"/>
          </p:cNvSpPr>
          <p:nvPr/>
        </p:nvSpPr>
        <p:spPr>
          <a:xfrm>
            <a:off x="579120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FCDE8BB-67CA-481D-8B51-FAC78BC4155E}"/>
              </a:ext>
            </a:extLst>
          </p:cNvPr>
          <p:cNvSpPr>
            <a:spLocks noGrp="1"/>
          </p:cNvSpPr>
          <p:nvPr/>
        </p:nvSpPr>
        <p:spPr>
          <a:xfrm>
            <a:off x="752475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8A7416-781E-422B-BE93-38DD3A1BB32E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403634D-0D34-469C-BBBA-FEBE680CB77D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236EEF3-FF45-4AF8-8296-190CA18E4B5D}"/>
              </a:ext>
            </a:extLst>
          </p:cNvPr>
          <p:cNvSpPr>
            <a:spLocks noGrp="1"/>
          </p:cNvSpPr>
          <p:nvPr/>
        </p:nvSpPr>
        <p:spPr>
          <a:xfrm>
            <a:off x="4705350" y="1238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확인하고 계속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3F1C91-AFBB-4C94-A078-2F6DBBBBFF6F}"/>
              </a:ext>
            </a:extLst>
          </p:cNvPr>
          <p:cNvSpPr>
            <a:spLocks noGrp="1"/>
          </p:cNvSpPr>
          <p:nvPr/>
        </p:nvSpPr>
        <p:spPr>
          <a:xfrm>
            <a:off x="6038850" y="1238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 확인 상태를 저장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F97F0-F6ED-4CBA-B482-04D6B6689016}"/>
              </a:ext>
            </a:extLst>
          </p:cNvPr>
          <p:cNvSpPr>
            <a:spLocks noGrp="1"/>
          </p:cNvSpPr>
          <p:nvPr/>
        </p:nvSpPr>
        <p:spPr>
          <a:xfrm>
            <a:off x="7772400" y="1238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NT-02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가입·로그인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77629D7A-2A0A-4491-8A37-C03F6576E74D}"/>
              </a:ext>
            </a:extLst>
          </p:cNvPr>
          <p:cNvSpPr>
            <a:spLocks noGrp="1"/>
          </p:cNvSpPr>
          <p:nvPr/>
        </p:nvSpPr>
        <p:spPr>
          <a:xfrm>
            <a:off x="579120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5C240264-C58D-426B-BF26-E8429142A1ED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175B002-7494-4328-8F4C-93C326E4A804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13FF750-2BEE-45B1-A9D0-D778C821E147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4984756-5F4D-41B6-9958-7A0A477CD042}"/>
              </a:ext>
            </a:extLst>
          </p:cNvPr>
          <p:cNvSpPr>
            <a:spLocks noGrp="1"/>
          </p:cNvSpPr>
          <p:nvPr/>
        </p:nvSpPr>
        <p:spPr>
          <a:xfrm>
            <a:off x="4705350" y="19050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가입하고 시작</a:t>
            </a:r>
          </a:p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0013499-D1A3-4984-A7B5-5E03C88D4D95}"/>
              </a:ext>
            </a:extLst>
          </p:cNvPr>
          <p:cNvSpPr>
            <a:spLocks noGrp="1"/>
          </p:cNvSpPr>
          <p:nvPr/>
        </p:nvSpPr>
        <p:spPr>
          <a:xfrm>
            <a:off x="6038850" y="19050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 처리 후 필요한 동의 상태를 확인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8160918-A520-45E0-AA7B-6D1E89902074}"/>
              </a:ext>
            </a:extLst>
          </p:cNvPr>
          <p:cNvSpPr>
            <a:spLocks noGrp="1"/>
          </p:cNvSpPr>
          <p:nvPr/>
        </p:nvSpPr>
        <p:spPr>
          <a:xfrm>
            <a:off x="7772400" y="19050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NT-03 /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19D4B0C4-1D10-42B0-B814-3106188AC76D}"/>
              </a:ext>
            </a:extLst>
          </p:cNvPr>
          <p:cNvSpPr>
            <a:spLocks noGrp="1"/>
          </p:cNvSpPr>
          <p:nvPr/>
        </p:nvSpPr>
        <p:spPr>
          <a:xfrm>
            <a:off x="579120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776992D2-0DC5-404C-935D-6D8B70A68A50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6C0333D-7D1F-4351-AC2B-6879F0710E40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0FFD08E-E286-4235-ADC0-E8BCC6083892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D3EDEFC-BC3E-43A7-85BA-4094C29D914F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저장하고 홈으로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0900D54-5DD0-4840-AB67-B8A55A0F0B21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선택한 동의와 권한 상태를 저장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2D69D04-5C69-4E9A-988E-366C1F905286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A3FFBE4D-EE67-4971-8D6D-30493EC8DEFE}"/>
              </a:ext>
            </a:extLst>
          </p:cNvPr>
          <p:cNvSpPr>
            <a:spLocks noGrp="1"/>
          </p:cNvSpPr>
          <p:nvPr/>
        </p:nvSpPr>
        <p:spPr>
          <a:xfrm>
            <a:off x="579120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74D7C9B-828C-4F01-8263-2C88B3915115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9B754BB-5C6A-48C8-A8B0-39EB4FC9A09D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86FBB2D-1050-4169-8A45-88E9D6D80E94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72DAC87-B072-416F-9472-9FF63D7F3739}"/>
              </a:ext>
            </a:extLst>
          </p:cNvPr>
          <p:cNvSpPr>
            <a:spLocks noGrp="1"/>
          </p:cNvSpPr>
          <p:nvPr/>
        </p:nvSpPr>
        <p:spPr>
          <a:xfrm>
            <a:off x="4705350" y="32385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30342D2-2A9A-4400-9AD4-A998D505C431}"/>
              </a:ext>
            </a:extLst>
          </p:cNvPr>
          <p:cNvSpPr>
            <a:spLocks noGrp="1"/>
          </p:cNvSpPr>
          <p:nvPr/>
        </p:nvSpPr>
        <p:spPr>
          <a:xfrm>
            <a:off x="6038850" y="32385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계정·동의·권한 관리 화면을 표시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105EE88-502D-43A2-B18C-D801068596E7}"/>
              </a:ext>
            </a:extLst>
          </p:cNvPr>
          <p:cNvSpPr>
            <a:spLocks noGrp="1"/>
          </p:cNvSpPr>
          <p:nvPr/>
        </p:nvSpPr>
        <p:spPr>
          <a:xfrm>
            <a:off x="7772400" y="32385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NT-09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0FA8C204-A2DA-485F-B466-285098955A13}"/>
              </a:ext>
            </a:extLst>
          </p:cNvPr>
          <p:cNvSpPr>
            <a:spLocks noGrp="1"/>
          </p:cNvSpPr>
          <p:nvPr/>
        </p:nvSpPr>
        <p:spPr>
          <a:xfrm>
            <a:off x="579120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2EA80D22-E075-465A-B643-83231D59DDF0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8046045-BC34-4BF6-BFB2-67AE759FED35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EB1FEAA-516F-40E3-A108-57E6BA70C2E9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3130EBBC-B116-48A3-AA49-309BB277D498}"/>
              </a:ext>
            </a:extLst>
          </p:cNvPr>
          <p:cNvSpPr>
            <a:spLocks noGrp="1"/>
          </p:cNvSpPr>
          <p:nvPr/>
        </p:nvSpPr>
        <p:spPr>
          <a:xfrm>
            <a:off x="4705350" y="3905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 확인 /
얼굴 측정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DB52A1E-09E2-49FA-BBE0-58BEF7C2CB36}"/>
              </a:ext>
            </a:extLst>
          </p:cNvPr>
          <p:cNvSpPr>
            <a:spLocks noGrp="1"/>
          </p:cNvSpPr>
          <p:nvPr/>
        </p:nvSpPr>
        <p:spPr>
          <a:xfrm>
            <a:off x="6038850" y="3905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연결·동의·서버 상태에 따라 Watch 또는 20초 얼굴 측정 표시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E064A57-0A04-400C-9A3F-848DF7AD02A6}"/>
              </a:ext>
            </a:extLst>
          </p:cNvPr>
          <p:cNvSpPr>
            <a:spLocks noGrp="1"/>
          </p:cNvSpPr>
          <p:nvPr/>
        </p:nvSpPr>
        <p:spPr>
          <a:xfrm>
            <a:off x="7772400" y="3905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 /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2 — 알림·AUQ·대화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05D1667-8F39-4843-8F92-75C232514370}"/>
              </a:ext>
            </a:extLst>
          </p:cNvPr>
          <p:cNvSpPr>
            <a:spLocks noGrp="1"/>
          </p:cNvSpPr>
          <p:nvPr/>
        </p:nvSpPr>
        <p:spPr>
          <a:xfrm>
            <a:off x="4000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9928CB-8437-43D0-92F4-556709B2ED34}"/>
              </a:ext>
            </a:extLst>
          </p:cNvPr>
          <p:cNvSpPr>
            <a:spLocks noGrp="1"/>
          </p:cNvSpPr>
          <p:nvPr/>
        </p:nvSpPr>
        <p:spPr>
          <a:xfrm>
            <a:off x="16573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CB3CC42-32A9-4C30-AF8D-CE85C8380FEE}"/>
              </a:ext>
            </a:extLst>
          </p:cNvPr>
          <p:cNvSpPr>
            <a:spLocks noGrp="1"/>
          </p:cNvSpPr>
          <p:nvPr/>
        </p:nvSpPr>
        <p:spPr>
          <a:xfrm>
            <a:off x="29146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58" name="그림 5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" name="그림 5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73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그림 5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146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2DAD1D7-0C18-466F-B07A-2CBCCEF1A0B3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36766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F0C349F-5F86-4219-A5BB-8B7D8AD3F1CD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35242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두 선택 경로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0C1E551-289B-4F8E-9014-5D13EF5497D5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35242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→ NT-04 유지 · 지금 대화하기 → NT-06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47BA2D4-B928-46E1-ADBA-BDF2EFA42300}"/>
              </a:ext>
            </a:extLst>
          </p:cNvPr>
          <p:cNvSpPr>
            <a:spLocks noGrp="1"/>
          </p:cNvSpPr>
          <p:nvPr/>
        </p:nvSpPr>
        <p:spPr>
          <a:xfrm>
            <a:off x="4705350" y="1123950"/>
            <a:ext cx="10668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776A7C0-8CE9-4A27-B55F-D383171FCE8D}"/>
              </a:ext>
            </a:extLst>
          </p:cNvPr>
          <p:cNvSpPr>
            <a:spLocks noGrp="1"/>
          </p:cNvSpPr>
          <p:nvPr/>
        </p:nvSpPr>
        <p:spPr>
          <a:xfrm>
            <a:off x="6038850" y="1123950"/>
            <a:ext cx="14668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FD2DDCE-BD52-4E2E-8788-0CC77FCEEDEB}"/>
              </a:ext>
            </a:extLst>
          </p:cNvPr>
          <p:cNvSpPr>
            <a:spLocks noGrp="1"/>
          </p:cNvSpPr>
          <p:nvPr/>
        </p:nvSpPr>
        <p:spPr>
          <a:xfrm>
            <a:off x="7772400" y="11239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0E143AD4-63C2-4E8A-A482-395D0C61D55B}"/>
              </a:ext>
            </a:extLst>
          </p:cNvPr>
          <p:cNvSpPr>
            <a:spLocks noGrp="1"/>
          </p:cNvSpPr>
          <p:nvPr/>
        </p:nvSpPr>
        <p:spPr>
          <a:xfrm>
            <a:off x="5791200" y="1600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3FF2CB4-AFD1-433D-A555-0F230CD4E518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557A4F8-AE25-4919-BD7F-8769CD2DE78A}"/>
              </a:ext>
            </a:extLst>
          </p:cNvPr>
          <p:cNvSpPr>
            <a:spLocks noGrp="1"/>
          </p:cNvSpPr>
          <p:nvPr/>
        </p:nvSpPr>
        <p:spPr>
          <a:xfrm>
            <a:off x="4343400" y="154305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213D10-881D-4CDD-8249-B3020922B367}"/>
              </a:ext>
            </a:extLst>
          </p:cNvPr>
          <p:cNvSpPr>
            <a:spLocks noGrp="1"/>
          </p:cNvSpPr>
          <p:nvPr/>
        </p:nvSpPr>
        <p:spPr>
          <a:xfrm>
            <a:off x="4343400" y="15430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AC0348A-6DAC-4DFC-B1D9-1FBB222AF610}"/>
              </a:ext>
            </a:extLst>
          </p:cNvPr>
          <p:cNvSpPr>
            <a:spLocks noGrp="1"/>
          </p:cNvSpPr>
          <p:nvPr/>
        </p:nvSpPr>
        <p:spPr>
          <a:xfrm>
            <a:off x="4705350" y="13906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대화하기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E739C7A-E732-43EC-9CA3-AD1FD3CA5F50}"/>
              </a:ext>
            </a:extLst>
          </p:cNvPr>
          <p:cNvSpPr>
            <a:spLocks noGrp="1"/>
          </p:cNvSpPr>
          <p:nvPr/>
        </p:nvSpPr>
        <p:spPr>
          <a:xfrm>
            <a:off x="6038850" y="13906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 시작 선택을 저장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2B87939-2AAF-4B20-84B6-245F5AC7927B}"/>
              </a:ext>
            </a:extLst>
          </p:cNvPr>
          <p:cNvSpPr>
            <a:spLocks noGrp="1"/>
          </p:cNvSpPr>
          <p:nvPr/>
        </p:nvSpPr>
        <p:spPr>
          <a:xfrm>
            <a:off x="7772400" y="13906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2B051D2-6E87-442C-AAEA-4E982C998B8D}"/>
              </a:ext>
            </a:extLst>
          </p:cNvPr>
          <p:cNvSpPr>
            <a:spLocks noGrp="1"/>
          </p:cNvSpPr>
          <p:nvPr/>
        </p:nvSpPr>
        <p:spPr>
          <a:xfrm>
            <a:off x="5791200" y="2362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AC32E774-F619-410F-B2CF-7522EC0F6EB8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1CE394B-7A5A-47E1-BD18-DC1C036FED5A}"/>
              </a:ext>
            </a:extLst>
          </p:cNvPr>
          <p:cNvSpPr>
            <a:spLocks noGrp="1"/>
          </p:cNvSpPr>
          <p:nvPr/>
        </p:nvSpPr>
        <p:spPr>
          <a:xfrm>
            <a:off x="4343400" y="23050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6CC99C4-CB34-41AE-950B-CC241AE33DE2}"/>
              </a:ext>
            </a:extLst>
          </p:cNvPr>
          <p:cNvSpPr>
            <a:spLocks noGrp="1"/>
          </p:cNvSpPr>
          <p:nvPr/>
        </p:nvSpPr>
        <p:spPr>
          <a:xfrm>
            <a:off x="4343400" y="23050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070297E-F4B6-4AB0-A318-2C3C3059095E}"/>
              </a:ext>
            </a:extLst>
          </p:cNvPr>
          <p:cNvSpPr>
            <a:spLocks noGrp="1"/>
          </p:cNvSpPr>
          <p:nvPr/>
        </p:nvSpPr>
        <p:spPr>
          <a:xfrm>
            <a:off x="4705350" y="21526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CF1F5F3-3067-48DD-96FF-6A7A5DBE6253}"/>
              </a:ext>
            </a:extLst>
          </p:cNvPr>
          <p:cNvSpPr>
            <a:spLocks noGrp="1"/>
          </p:cNvSpPr>
          <p:nvPr/>
        </p:nvSpPr>
        <p:spPr>
          <a:xfrm>
            <a:off x="6038850" y="21526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알림을 닫고 현재 화면을 유지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05B7AF7-CEF3-40DD-B32A-610479B0E5CE}"/>
              </a:ext>
            </a:extLst>
          </p:cNvPr>
          <p:cNvSpPr>
            <a:spLocks noGrp="1"/>
          </p:cNvSpPr>
          <p:nvPr/>
        </p:nvSpPr>
        <p:spPr>
          <a:xfrm>
            <a:off x="7772400" y="21526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C433C564-F49B-410D-B333-F8B2244384F4}"/>
              </a:ext>
            </a:extLst>
          </p:cNvPr>
          <p:cNvSpPr>
            <a:spLocks noGrp="1"/>
          </p:cNvSpPr>
          <p:nvPr/>
        </p:nvSpPr>
        <p:spPr>
          <a:xfrm>
            <a:off x="5791200" y="3124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9C677C21-AA7B-461B-9150-7BAAD54EBA6A}"/>
              </a:ext>
            </a:extLst>
          </p:cNvPr>
          <p:cNvSpPr>
            <a:spLocks noGrp="1"/>
          </p:cNvSpPr>
          <p:nvPr/>
        </p:nvSpPr>
        <p:spPr>
          <a:xfrm>
            <a:off x="7524750" y="3124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BF19827-33CE-4D26-8A2B-A7DDC82A5FCC}"/>
              </a:ext>
            </a:extLst>
          </p:cNvPr>
          <p:cNvSpPr>
            <a:spLocks noGrp="1"/>
          </p:cNvSpPr>
          <p:nvPr/>
        </p:nvSpPr>
        <p:spPr>
          <a:xfrm>
            <a:off x="4343400" y="30670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FF8D51E-3F7C-42F4-9C57-A63794B817D8}"/>
              </a:ext>
            </a:extLst>
          </p:cNvPr>
          <p:cNvSpPr>
            <a:spLocks noGrp="1"/>
          </p:cNvSpPr>
          <p:nvPr/>
        </p:nvSpPr>
        <p:spPr>
          <a:xfrm>
            <a:off x="4343400" y="30670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15E9306-5FDD-4CB3-A3B8-A43AC4B381DA}"/>
              </a:ext>
            </a:extLst>
          </p:cNvPr>
          <p:cNvSpPr>
            <a:spLocks noGrp="1"/>
          </p:cNvSpPr>
          <p:nvPr/>
        </p:nvSpPr>
        <p:spPr>
          <a:xfrm>
            <a:off x="4705350" y="29146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7단계 문장 선택 → 다음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4E2A7D-007A-4FDF-83A9-C5E71E456BBA}"/>
              </a:ext>
            </a:extLst>
          </p:cNvPr>
          <p:cNvSpPr>
            <a:spLocks noGrp="1"/>
          </p:cNvSpPr>
          <p:nvPr/>
        </p:nvSpPr>
        <p:spPr>
          <a:xfrm>
            <a:off x="6038850" y="29146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1~7 값을 저장하고 다음 문항을 표시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21D0EDA-24EA-4F53-8782-2033EE678B13}"/>
              </a:ext>
            </a:extLst>
          </p:cNvPr>
          <p:cNvSpPr>
            <a:spLocks noGrp="1"/>
          </p:cNvSpPr>
          <p:nvPr/>
        </p:nvSpPr>
        <p:spPr>
          <a:xfrm>
            <a:off x="7772400" y="29146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3E89701D-D73B-40A4-94FA-BC63E562ABDB}"/>
              </a:ext>
            </a:extLst>
          </p:cNvPr>
          <p:cNvSpPr>
            <a:spLocks noGrp="1"/>
          </p:cNvSpPr>
          <p:nvPr/>
        </p:nvSpPr>
        <p:spPr>
          <a:xfrm>
            <a:off x="5791200" y="3886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372BC8C1-3109-481A-9F27-017C48FCD9E9}"/>
              </a:ext>
            </a:extLst>
          </p:cNvPr>
          <p:cNvSpPr>
            <a:spLocks noGrp="1"/>
          </p:cNvSpPr>
          <p:nvPr/>
        </p:nvSpPr>
        <p:spPr>
          <a:xfrm>
            <a:off x="7524750" y="3886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1683FB6-1DF8-4A3F-9A1A-B4A8E242D1C6}"/>
              </a:ext>
            </a:extLst>
          </p:cNvPr>
          <p:cNvSpPr>
            <a:spLocks noGrp="1"/>
          </p:cNvSpPr>
          <p:nvPr/>
        </p:nvSpPr>
        <p:spPr>
          <a:xfrm>
            <a:off x="4343400" y="382905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541B959-509A-4D5D-94CD-DBC2D9921786}"/>
              </a:ext>
            </a:extLst>
          </p:cNvPr>
          <p:cNvSpPr>
            <a:spLocks noGrp="1"/>
          </p:cNvSpPr>
          <p:nvPr/>
        </p:nvSpPr>
        <p:spPr>
          <a:xfrm>
            <a:off x="4343400" y="38290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4D1FC70-81C2-44FF-BF1B-B670E3F0AC2C}"/>
              </a:ext>
            </a:extLst>
          </p:cNvPr>
          <p:cNvSpPr>
            <a:spLocks noGrp="1"/>
          </p:cNvSpPr>
          <p:nvPr/>
        </p:nvSpPr>
        <p:spPr>
          <a:xfrm>
            <a:off x="4705350" y="36766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건너뛰기 / 마지막 완료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01CA571-8908-444D-B4E5-19FF77E64D3D}"/>
              </a:ext>
            </a:extLst>
          </p:cNvPr>
          <p:cNvSpPr>
            <a:spLocks noGrp="1"/>
          </p:cNvSpPr>
          <p:nvPr/>
        </p:nvSpPr>
        <p:spPr>
          <a:xfrm>
            <a:off x="6038850" y="36766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상태를 저장하고 사용자 주도 자유대화를 열기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0D4B671-02B3-4238-BD58-904768900718}"/>
              </a:ext>
            </a:extLst>
          </p:cNvPr>
          <p:cNvSpPr>
            <a:spLocks noGrp="1"/>
          </p:cNvSpPr>
          <p:nvPr/>
        </p:nvSpPr>
        <p:spPr>
          <a:xfrm>
            <a:off x="7772400" y="36766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50" name="v16-s09-tts-control">
            <a:extLst>
              <a:ext uri="{FF2B5EF4-FFF2-40B4-BE49-F238E27FC236}">
                <a16:creationId xmlns:a16="http://schemas.microsoft.com/office/drawing/2014/main" id="{B8904341-3C45-494C-8EF9-7688C32FE0A5}"/>
              </a:ext>
            </a:extLst>
          </p:cNvPr>
          <p:cNvSpPr>
            <a:spLocks noGrp="1"/>
          </p:cNvSpPr>
          <p:nvPr/>
        </p:nvSpPr>
        <p:spPr>
          <a:xfrm>
            <a:off x="3000375" y="2066925"/>
            <a:ext cx="723900" cy="161925"/>
          </a:xfrm>
          <a:prstGeom prst="roundRect">
            <a:avLst>
              <a:gd name="adj" fmla="val 35294"/>
            </a:avLst>
          </a:prstGeom>
          <a:solidFill>
            <a:srgbClr val="000000">
              <a:alpha val="0"/>
            </a:srgbClr>
          </a:solidFill>
          <a:ln w="11906">
            <a:solidFill>
              <a:srgbClr val="20847C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defRPr sz="578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defRPr>
            </a:pPr>
            <a:r>
              <a:rPr sz="578" b="1" dirty="0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TTS · </a:t>
            </a:r>
            <a:r>
              <a:rPr sz="578" b="1" dirty="0" err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듣기</a:t>
            </a:r>
            <a:r>
              <a:rPr sz="578" b="1" dirty="0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578" b="1" dirty="0" err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정지</a:t>
            </a:r>
            <a:endParaRPr sz="578" b="1" dirty="0">
              <a:solidFill>
                <a:srgbClr val="0B6F6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1" name="v16-s09-stt-control">
            <a:extLst>
              <a:ext uri="{FF2B5EF4-FFF2-40B4-BE49-F238E27FC236}">
                <a16:creationId xmlns:a16="http://schemas.microsoft.com/office/drawing/2014/main" id="{FC5614B1-3B56-4FA2-98F0-E9D88F564EFD}"/>
              </a:ext>
            </a:extLst>
          </p:cNvPr>
          <p:cNvSpPr>
            <a:spLocks noGrp="1"/>
          </p:cNvSpPr>
          <p:nvPr/>
        </p:nvSpPr>
        <p:spPr>
          <a:xfrm>
            <a:off x="3238500" y="3114675"/>
            <a:ext cx="723900" cy="161925"/>
          </a:xfrm>
          <a:prstGeom prst="roundRect">
            <a:avLst>
              <a:gd name="adj" fmla="val 35294"/>
            </a:avLst>
          </a:prstGeom>
          <a:solidFill>
            <a:srgbClr val="000000">
              <a:alpha val="0"/>
            </a:srgbClr>
          </a:solidFill>
          <a:ln w="11906">
            <a:solidFill>
              <a:srgbClr val="20847C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defRPr sz="600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defRPr>
            </a:pPr>
            <a:r>
              <a:rPr sz="600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STT · 마이크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75AFC6-4BE6-4A05-B6EB-48FC60E95FC9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3 — 문자·음성, 동일한 메시지 저장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1495C5-A772-4807-9100-5AC0A2114B0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F9EB0F-D70E-468C-AD40-33ED86C3C1FD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6B5B0EB-A72B-415B-89AE-A2E1F802CF02}"/>
              </a:ext>
            </a:extLst>
          </p:cNvPr>
          <p:cNvSpPr>
            <a:spLocks noGrp="1"/>
          </p:cNvSpPr>
          <p:nvPr/>
        </p:nvSpPr>
        <p:spPr>
          <a:xfrm>
            <a:off x="4000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텍스트·STT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07C0E6A-1650-40C6-89C9-7879061869CB}"/>
              </a:ext>
            </a:extLst>
          </p:cNvPr>
          <p:cNvSpPr>
            <a:spLocks noGrp="1"/>
          </p:cNvSpPr>
          <p:nvPr/>
        </p:nvSpPr>
        <p:spPr>
          <a:xfrm>
            <a:off x="16573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TTS·재시도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F45F57E-4F23-47A2-8E9E-DD811A49F6BB}"/>
              </a:ext>
            </a:extLst>
          </p:cNvPr>
          <p:cNvSpPr>
            <a:spLocks noGrp="1"/>
          </p:cNvSpPr>
          <p:nvPr/>
        </p:nvSpPr>
        <p:spPr>
          <a:xfrm>
            <a:off x="29146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pic>
        <p:nvPicPr>
          <p:cNvPr id="65" name="그림 6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6" name="그림 6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73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7" name="그림 6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146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8A57F4B-1783-4E72-9337-EB9B5AE4087C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36766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9279D8E-F586-48CF-A295-F02894B8FE26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35242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문자·음성 입력에서 기록까지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931DE9-EE48-4AAB-813B-9FE84BB886A9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35242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STT 확정 문장도 /messages에 저장하며 inputModality만 보존합니다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13ABFD3-B428-4726-B863-1DD089238CBC}"/>
              </a:ext>
            </a:extLst>
          </p:cNvPr>
          <p:cNvSpPr>
            <a:spLocks noGrp="1"/>
          </p:cNvSpPr>
          <p:nvPr/>
        </p:nvSpPr>
        <p:spPr>
          <a:xfrm>
            <a:off x="4705350" y="1009650"/>
            <a:ext cx="10668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21E6A34-D7C1-4C36-A1E9-6D907552B624}"/>
              </a:ext>
            </a:extLst>
          </p:cNvPr>
          <p:cNvSpPr>
            <a:spLocks noGrp="1"/>
          </p:cNvSpPr>
          <p:nvPr/>
        </p:nvSpPr>
        <p:spPr>
          <a:xfrm>
            <a:off x="6038850" y="1009650"/>
            <a:ext cx="14668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9BE88BC-61D1-494C-A0BB-F4EB92A0A749}"/>
              </a:ext>
            </a:extLst>
          </p:cNvPr>
          <p:cNvSpPr>
            <a:spLocks noGrp="1"/>
          </p:cNvSpPr>
          <p:nvPr/>
        </p:nvSpPr>
        <p:spPr>
          <a:xfrm>
            <a:off x="7772400" y="10096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4EDF48F-71FB-41E8-9968-12EDEB3DE7D6}"/>
              </a:ext>
            </a:extLst>
          </p:cNvPr>
          <p:cNvSpPr>
            <a:spLocks noGrp="1"/>
          </p:cNvSpPr>
          <p:nvPr/>
        </p:nvSpPr>
        <p:spPr>
          <a:xfrm>
            <a:off x="579120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F2E8FCEF-A502-4E1F-869D-95002FD48E0E}"/>
              </a:ext>
            </a:extLst>
          </p:cNvPr>
          <p:cNvSpPr>
            <a:spLocks noGrp="1"/>
          </p:cNvSpPr>
          <p:nvPr/>
        </p:nvSpPr>
        <p:spPr>
          <a:xfrm>
            <a:off x="752475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C18A375-6F13-40AF-91D0-FC7F4CB2F439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597CC93-3B41-4061-A58D-C83073D6CF40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ACCD3E-691D-4AA5-A6A2-962F0FBEA570}"/>
              </a:ext>
            </a:extLst>
          </p:cNvPr>
          <p:cNvSpPr>
            <a:spLocks noGrp="1"/>
          </p:cNvSpPr>
          <p:nvPr/>
        </p:nvSpPr>
        <p:spPr>
          <a:xfrm>
            <a:off x="4705350" y="1238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챗봇 탭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309C224-25CC-4A6C-A584-6002998999D9}"/>
              </a:ext>
            </a:extLst>
          </p:cNvPr>
          <p:cNvSpPr>
            <a:spLocks noGrp="1"/>
          </p:cNvSpPr>
          <p:nvPr/>
        </p:nvSpPr>
        <p:spPr>
          <a:xfrm>
            <a:off x="6038850" y="1238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진행 중 대화를 열거나 새 대화를 시작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E410822-EE1A-4113-8F29-184F8E705316}"/>
              </a:ext>
            </a:extLst>
          </p:cNvPr>
          <p:cNvSpPr>
            <a:spLocks noGrp="1"/>
          </p:cNvSpPr>
          <p:nvPr/>
        </p:nvSpPr>
        <p:spPr>
          <a:xfrm>
            <a:off x="7772400" y="1238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86D329D-EB28-4179-8E95-4D97F8660BDF}"/>
              </a:ext>
            </a:extLst>
          </p:cNvPr>
          <p:cNvSpPr>
            <a:spLocks noGrp="1"/>
          </p:cNvSpPr>
          <p:nvPr/>
        </p:nvSpPr>
        <p:spPr>
          <a:xfrm>
            <a:off x="579120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647E503E-81B9-4921-92D5-0F1C6A667383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A63B168-06D8-48AF-A0FB-BDBF035E87BC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955B884-AC68-4FC5-9560-0B3569349B0C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51A1C37-A37B-4A6E-B52B-6A3544A500E0}"/>
              </a:ext>
            </a:extLst>
          </p:cNvPr>
          <p:cNvSpPr>
            <a:spLocks noGrp="1"/>
          </p:cNvSpPr>
          <p:nvPr/>
        </p:nvSpPr>
        <p:spPr>
          <a:xfrm>
            <a:off x="4705350" y="19050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마이크 시작 → 정지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D4A106A-1D11-4C82-AF9C-F5CE9FBDB73E}"/>
              </a:ext>
            </a:extLst>
          </p:cNvPr>
          <p:cNvSpPr>
            <a:spLocks noGrp="1"/>
          </p:cNvSpPr>
          <p:nvPr/>
        </p:nvSpPr>
        <p:spPr>
          <a:xfrm>
            <a:off x="6038850" y="19050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STT 문장을 입력창에 채우고 사용자 편집 상태 유지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CDD8CB6-A853-4BCC-9666-57919A77B7EC}"/>
              </a:ext>
            </a:extLst>
          </p:cNvPr>
          <p:cNvSpPr>
            <a:spLocks noGrp="1"/>
          </p:cNvSpPr>
          <p:nvPr/>
        </p:nvSpPr>
        <p:spPr>
          <a:xfrm>
            <a:off x="7772400" y="19050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응답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C868C134-C5C2-4645-B512-50E8A87A054D}"/>
              </a:ext>
            </a:extLst>
          </p:cNvPr>
          <p:cNvSpPr>
            <a:spLocks noGrp="1"/>
          </p:cNvSpPr>
          <p:nvPr/>
        </p:nvSpPr>
        <p:spPr>
          <a:xfrm>
            <a:off x="579120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4433E7CC-0AD0-48BF-9B12-D2CC39E55BDB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C6813B1-E96E-4F14-845F-9B135E3DCEB8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DA4CAB0-1F0A-4414-8342-B6A64FA5F8A4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1E1C435-1C24-4E52-B6D2-9C8510D731EF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AA69677-4A86-4B39-A118-84B142216380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clientMessageId로 저장하고 inputModality와 함께 AI 응답 요청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6695030-0136-4AFF-8457-7E301F0A8A03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재시도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79BC46C5-03D0-4BB4-B21D-E64D8A5BDD48}"/>
              </a:ext>
            </a:extLst>
          </p:cNvPr>
          <p:cNvSpPr>
            <a:spLocks noGrp="1"/>
          </p:cNvSpPr>
          <p:nvPr/>
        </p:nvSpPr>
        <p:spPr>
          <a:xfrm>
            <a:off x="579120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CAB33FED-3D7F-479D-997E-4B2864A08FE3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0A7AD-683A-468E-B5E0-0B8CE679C344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0A320B2-C796-4D07-B97A-554E3218BA56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16838C2-B1C2-4211-A461-04C9A7685ED5}"/>
              </a:ext>
            </a:extLst>
          </p:cNvPr>
          <p:cNvSpPr>
            <a:spLocks noGrp="1"/>
          </p:cNvSpPr>
          <p:nvPr/>
        </p:nvSpPr>
        <p:spPr>
          <a:xfrm>
            <a:off x="4705350" y="32385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듣기·정지 / 종료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A36BA13-1B08-488A-8977-AD05556CA1AA}"/>
              </a:ext>
            </a:extLst>
          </p:cNvPr>
          <p:cNvSpPr>
            <a:spLocks noGrp="1"/>
          </p:cNvSpPr>
          <p:nvPr/>
        </p:nvSpPr>
        <p:spPr>
          <a:xfrm>
            <a:off x="6038850" y="32385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TTS를 제어하거나 대화를 마감해 기록을 반영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8B4B295-93C9-45EA-BB7F-CBCE519E0689}"/>
              </a:ext>
            </a:extLst>
          </p:cNvPr>
          <p:cNvSpPr>
            <a:spLocks noGrp="1"/>
          </p:cNvSpPr>
          <p:nvPr/>
        </p:nvSpPr>
        <p:spPr>
          <a:xfrm>
            <a:off x="7772400" y="32385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80232191-DAA0-41B3-90C1-755021304C21}"/>
              </a:ext>
            </a:extLst>
          </p:cNvPr>
          <p:cNvSpPr>
            <a:spLocks noGrp="1"/>
          </p:cNvSpPr>
          <p:nvPr/>
        </p:nvSpPr>
        <p:spPr>
          <a:xfrm>
            <a:off x="579120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CF23D9A9-A785-411C-A524-F2BDDEFDAFB4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D75B054-2BCF-4DCA-B295-E893FA2CD445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9F02E1F-4DFF-454A-967B-80514B7B5F49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AEC7D32-873E-4D19-BB57-56D921DA9ADB}"/>
              </a:ext>
            </a:extLst>
          </p:cNvPr>
          <p:cNvSpPr>
            <a:spLocks noGrp="1"/>
          </p:cNvSpPr>
          <p:nvPr/>
        </p:nvSpPr>
        <p:spPr>
          <a:xfrm>
            <a:off x="4705350" y="3905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대시보드 막대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02686B4-9D9E-4134-B03D-96BFFA6E9C26}"/>
              </a:ext>
            </a:extLst>
          </p:cNvPr>
          <p:cNvSpPr>
            <a:spLocks noGrp="1"/>
          </p:cNvSpPr>
          <p:nvPr/>
        </p:nvSpPr>
        <p:spPr>
          <a:xfrm>
            <a:off x="6038850" y="3905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4단계 중첩·AUQ X/56·이벤트 건수를 표시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EA83FB5-3488-4E0E-B863-1BBF6A578690}"/>
              </a:ext>
            </a:extLst>
          </p:cNvPr>
          <p:cNvSpPr>
            <a:spLocks noGrp="1"/>
          </p:cNvSpPr>
          <p:nvPr/>
        </p:nvSpPr>
        <p:spPr>
          <a:xfrm>
            <a:off x="7772400" y="3905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57" name="v16-s10-stt-control">
            <a:extLst>
              <a:ext uri="{FF2B5EF4-FFF2-40B4-BE49-F238E27FC236}">
                <a16:creationId xmlns:a16="http://schemas.microsoft.com/office/drawing/2014/main" id="{69F9227A-0404-4817-A690-57C0DFF7D1FB}"/>
              </a:ext>
            </a:extLst>
          </p:cNvPr>
          <p:cNvSpPr>
            <a:spLocks noGrp="1"/>
          </p:cNvSpPr>
          <p:nvPr/>
        </p:nvSpPr>
        <p:spPr>
          <a:xfrm>
            <a:off x="742950" y="3038475"/>
            <a:ext cx="704850" cy="161925"/>
          </a:xfrm>
          <a:prstGeom prst="roundRect">
            <a:avLst>
              <a:gd name="adj" fmla="val 35294"/>
            </a:avLst>
          </a:prstGeom>
          <a:solidFill>
            <a:srgbClr val="000000">
              <a:alpha val="0"/>
            </a:srgbClr>
          </a:solidFill>
          <a:ln w="11906">
            <a:solidFill>
              <a:srgbClr val="20847C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defRPr sz="600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defRPr>
            </a:pPr>
            <a:r>
              <a:rPr sz="600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STT · 마이크</a:t>
            </a:r>
          </a:p>
        </p:txBody>
      </p:sp>
      <p:sp>
        <p:nvSpPr>
          <p:cNvPr id="58" name="v16-s10-tts-control">
            <a:extLst>
              <a:ext uri="{FF2B5EF4-FFF2-40B4-BE49-F238E27FC236}">
                <a16:creationId xmlns:a16="http://schemas.microsoft.com/office/drawing/2014/main" id="{864A72CB-0A5F-4BDC-B030-E47C5510B5F5}"/>
              </a:ext>
            </a:extLst>
          </p:cNvPr>
          <p:cNvSpPr>
            <a:spLocks noGrp="1"/>
          </p:cNvSpPr>
          <p:nvPr/>
        </p:nvSpPr>
        <p:spPr>
          <a:xfrm>
            <a:off x="1981200" y="2781300"/>
            <a:ext cx="723900" cy="161925"/>
          </a:xfrm>
          <a:prstGeom prst="roundRect">
            <a:avLst>
              <a:gd name="adj" fmla="val 35294"/>
            </a:avLst>
          </a:prstGeom>
          <a:solidFill>
            <a:srgbClr val="000000">
              <a:alpha val="0"/>
            </a:srgbClr>
          </a:solidFill>
          <a:ln w="11906">
            <a:solidFill>
              <a:srgbClr val="20847C"/>
            </a:solidFill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ctr">
              <a:defRPr sz="578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defRPr>
            </a:pPr>
            <a:r>
              <a:rPr sz="578" b="1">
                <a:solidFill>
                  <a:srgbClr val="0B6F68"/>
                </a:solidFill>
                <a:latin typeface="Malgun Gothic"/>
                <a:ea typeface="Malgun Gothic"/>
                <a:cs typeface="Malgun Gothic"/>
              </a:rPr>
              <a:t>TTS · 듣기/정지</a:t>
            </a:r>
          </a:p>
        </p:txBody>
      </p:sp>
    </p:spTree>
    <p:extLst>
      <p:ext uri="{BB962C8B-B14F-4D97-AF65-F5344CB8AC3E}">
        <p14:creationId xmlns:p14="http://schemas.microsoft.com/office/powerpoint/2010/main" val="473944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4 — Watch 없는 경우 얼굴 rPPG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20D69A-C3B2-40BF-A66E-1135E828C2CA}"/>
              </a:ext>
            </a:extLst>
          </p:cNvPr>
          <p:cNvSpPr>
            <a:spLocks noGrp="1"/>
          </p:cNvSpPr>
          <p:nvPr/>
        </p:nvSpPr>
        <p:spPr>
          <a:xfrm>
            <a:off x="34290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얼굴 안정화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B5FCF6B-1E34-4EF9-A39C-283359599553}"/>
              </a:ext>
            </a:extLst>
          </p:cNvPr>
          <p:cNvSpPr>
            <a:spLocks noGrp="1"/>
          </p:cNvSpPr>
          <p:nvPr/>
        </p:nvSpPr>
        <p:spPr>
          <a:xfrm>
            <a:off x="161925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20초 촬영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6EB1116-178C-4DD9-BBE3-DCAB3C3A8D8D}"/>
              </a:ext>
            </a:extLst>
          </p:cNvPr>
          <p:cNvSpPr>
            <a:spLocks noGrp="1"/>
          </p:cNvSpPr>
          <p:nvPr/>
        </p:nvSpPr>
        <p:spPr>
          <a:xfrm>
            <a:off x="289560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업로드 · 분석</a:t>
            </a:r>
          </a:p>
        </p:txBody>
      </p:sp>
      <p:pic>
        <p:nvPicPr>
          <p:cNvPr id="63" name="그림 6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4" name="그림 6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73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" name="그림 6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146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04D1B42-59B7-4851-815D-97DE6DA8CFD2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36766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66A88C7-1910-4D0F-9A9E-241DA5018747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35242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 · Watch 대체 측정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8269154-2842-4FBC-9A45-53CCC43B7BFF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35242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동의·준비 확인 → 20초 촬영 → job polling → camera_rppg 결과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A9AF464-1B6E-47F0-AC87-64220763CA73}"/>
              </a:ext>
            </a:extLst>
          </p:cNvPr>
          <p:cNvSpPr>
            <a:spLocks noGrp="1"/>
          </p:cNvSpPr>
          <p:nvPr/>
        </p:nvSpPr>
        <p:spPr>
          <a:xfrm>
            <a:off x="4705350" y="1009650"/>
            <a:ext cx="10668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3A82640-EB3A-404A-A62B-CD29E91424EE}"/>
              </a:ext>
            </a:extLst>
          </p:cNvPr>
          <p:cNvSpPr>
            <a:spLocks noGrp="1"/>
          </p:cNvSpPr>
          <p:nvPr/>
        </p:nvSpPr>
        <p:spPr>
          <a:xfrm>
            <a:off x="6038850" y="1009650"/>
            <a:ext cx="14668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D5FBFA8-193C-4246-8B8C-729999658518}"/>
              </a:ext>
            </a:extLst>
          </p:cNvPr>
          <p:cNvSpPr>
            <a:spLocks noGrp="1"/>
          </p:cNvSpPr>
          <p:nvPr/>
        </p:nvSpPr>
        <p:spPr>
          <a:xfrm>
            <a:off x="7772400" y="10096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E7D5C803-AE87-451A-B28C-01AF0AEE094F}"/>
              </a:ext>
            </a:extLst>
          </p:cNvPr>
          <p:cNvSpPr>
            <a:spLocks noGrp="1"/>
          </p:cNvSpPr>
          <p:nvPr/>
        </p:nvSpPr>
        <p:spPr>
          <a:xfrm>
            <a:off x="579120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FCDE8BB-67CA-481D-8B51-FAC78BC4155E}"/>
              </a:ext>
            </a:extLst>
          </p:cNvPr>
          <p:cNvSpPr>
            <a:spLocks noGrp="1"/>
          </p:cNvSpPr>
          <p:nvPr/>
        </p:nvSpPr>
        <p:spPr>
          <a:xfrm>
            <a:off x="752475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8A7416-781E-422B-BE93-38DD3A1BB32E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403634D-0D34-469C-BBBA-FEBE680CB77D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236EEF3-FF45-4AF8-8296-190CA18E4B5D}"/>
              </a:ext>
            </a:extLst>
          </p:cNvPr>
          <p:cNvSpPr>
            <a:spLocks noGrp="1"/>
          </p:cNvSpPr>
          <p:nvPr/>
        </p:nvSpPr>
        <p:spPr>
          <a:xfrm>
            <a:off x="4705350" y="1238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20초 얼굴 측정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3F1C91-AFBB-4C94-A078-2F6DBBBBFF6F}"/>
              </a:ext>
            </a:extLst>
          </p:cNvPr>
          <p:cNvSpPr>
            <a:spLocks noGrp="1"/>
          </p:cNvSpPr>
          <p:nvPr/>
        </p:nvSpPr>
        <p:spPr>
          <a:xfrm>
            <a:off x="6038850" y="1238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 4종 + /api/rppg/status ready 확인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F97F0-F6ED-4CBA-B482-04D6B6689016}"/>
              </a:ext>
            </a:extLst>
          </p:cNvPr>
          <p:cNvSpPr>
            <a:spLocks noGrp="1"/>
          </p:cNvSpPr>
          <p:nvPr/>
        </p:nvSpPr>
        <p:spPr>
          <a:xfrm>
            <a:off x="7772400" y="1238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찾기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77629D7A-2A0A-4491-8A37-C03F6576E74D}"/>
              </a:ext>
            </a:extLst>
          </p:cNvPr>
          <p:cNvSpPr>
            <a:spLocks noGrp="1"/>
          </p:cNvSpPr>
          <p:nvPr/>
        </p:nvSpPr>
        <p:spPr>
          <a:xfrm>
            <a:off x="579120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5C240264-C58D-426B-BF26-E8429142A1ED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175B002-7494-4328-8F4C-93C326E4A804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13FF750-2BEE-45B1-A9D0-D778C821E147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4984756-5F4D-41B6-9958-7A0A477CD042}"/>
              </a:ext>
            </a:extLst>
          </p:cNvPr>
          <p:cNvSpPr>
            <a:spLocks noGrp="1"/>
          </p:cNvSpPr>
          <p:nvPr/>
        </p:nvSpPr>
        <p:spPr>
          <a:xfrm>
            <a:off x="4705350" y="19050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얼굴 1초</a:t>
            </a:r>
          </a:p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0013499-D1A3-4984-A7B5-5E03C88D4D95}"/>
              </a:ext>
            </a:extLst>
          </p:cNvPr>
          <p:cNvSpPr>
            <a:spLocks noGrp="1"/>
          </p:cNvSpPr>
          <p:nvPr/>
        </p:nvSpPr>
        <p:spPr>
          <a:xfrm>
            <a:off x="6038850" y="19050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실행 후 20초 촬영 자동 시작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8160918-A520-45E0-AA7B-6D1E89902074}"/>
              </a:ext>
            </a:extLst>
          </p:cNvPr>
          <p:cNvSpPr>
            <a:spLocks noGrp="1"/>
          </p:cNvSpPr>
          <p:nvPr/>
        </p:nvSpPr>
        <p:spPr>
          <a:xfrm>
            <a:off x="7772400" y="19050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촬영 중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19D4B0C4-1D10-42B0-B814-3106188AC76D}"/>
              </a:ext>
            </a:extLst>
          </p:cNvPr>
          <p:cNvSpPr>
            <a:spLocks noGrp="1"/>
          </p:cNvSpPr>
          <p:nvPr/>
        </p:nvSpPr>
        <p:spPr>
          <a:xfrm>
            <a:off x="579120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776992D2-0DC5-404C-935D-6D8B70A68A50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6C0333D-7D1F-4351-AC2B-6879F0710E40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0FFD08E-E286-4235-ADC0-E8BCC6083892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D3EDEFC-BC3E-43A7-85BA-4094C29D914F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촬영 완료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0900D54-5DD0-4840-AB67-B8A55A0F0B21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202 응답 후 로컬 영상 삭제·job polling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2D69D04-5C69-4E9A-988E-366C1F905286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분석 대기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A3FFBE4D-EE67-4971-8D6D-30493EC8DEFE}"/>
              </a:ext>
            </a:extLst>
          </p:cNvPr>
          <p:cNvSpPr>
            <a:spLocks noGrp="1"/>
          </p:cNvSpPr>
          <p:nvPr/>
        </p:nvSpPr>
        <p:spPr>
          <a:xfrm>
            <a:off x="579120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74D7C9B-828C-4F01-8263-2C88B3915115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9B754BB-5C6A-48C8-A8B0-39EB4FC9A09D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86FBB2D-1050-4169-8A45-88E9D6D80E94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72DAC87-B072-416F-9472-9FF63D7F3739}"/>
              </a:ext>
            </a:extLst>
          </p:cNvPr>
          <p:cNvSpPr>
            <a:spLocks noGrp="1"/>
          </p:cNvSpPr>
          <p:nvPr/>
        </p:nvSpPr>
        <p:spPr>
          <a:xfrm>
            <a:off x="4705350" y="32385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품질 미달 / 실패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30342D2-2A9A-4400-9AD4-A998D505C431}"/>
              </a:ext>
            </a:extLst>
          </p:cNvPr>
          <p:cNvSpPr>
            <a:spLocks noGrp="1"/>
          </p:cNvSpPr>
          <p:nvPr/>
        </p:nvSpPr>
        <p:spPr>
          <a:xfrm>
            <a:off x="6038850" y="32385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품질 미달은 재촬영, 통신 실패는 retry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105EE88-502D-43A2-B18C-D801068596E7}"/>
              </a:ext>
            </a:extLst>
          </p:cNvPr>
          <p:cNvSpPr>
            <a:spLocks noGrp="1"/>
          </p:cNvSpPr>
          <p:nvPr/>
        </p:nvSpPr>
        <p:spPr>
          <a:xfrm>
            <a:off x="7772400" y="32385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재촬영·재시도</a:t>
            </a: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0FA8C204-A2DA-485F-B466-285098955A13}"/>
              </a:ext>
            </a:extLst>
          </p:cNvPr>
          <p:cNvSpPr>
            <a:spLocks noGrp="1"/>
          </p:cNvSpPr>
          <p:nvPr/>
        </p:nvSpPr>
        <p:spPr>
          <a:xfrm>
            <a:off x="579120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2EA80D22-E075-465A-B643-83231D59DDF0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8046045-BC34-4BF6-BFB2-67AE759FED35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EB1FEAA-516F-40E3-A108-57E6BA70C2E9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3130EBBC-B116-48A3-AA49-309BB277D498}"/>
              </a:ext>
            </a:extLst>
          </p:cNvPr>
          <p:cNvSpPr>
            <a:spLocks noGrp="1"/>
          </p:cNvSpPr>
          <p:nvPr/>
        </p:nvSpPr>
        <p:spPr>
          <a:xfrm>
            <a:off x="4705350" y="3905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완료 / 닫기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DB52A1E-09E2-49FA-BBE0-58BEF7C2CB36}"/>
              </a:ext>
            </a:extLst>
          </p:cNvPr>
          <p:cNvSpPr>
            <a:spLocks noGrp="1"/>
          </p:cNvSpPr>
          <p:nvPr/>
        </p:nvSpPr>
        <p:spPr>
          <a:xfrm>
            <a:off x="6038850" y="3905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camera_rppg 결과를 DB와 홈 카드에 저장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E064A57-0A04-400C-9A3F-848DF7AD02A6}"/>
              </a:ext>
            </a:extLst>
          </p:cNvPr>
          <p:cNvSpPr>
            <a:spLocks noGrp="1"/>
          </p:cNvSpPr>
          <p:nvPr/>
        </p:nvSpPr>
        <p:spPr>
          <a:xfrm>
            <a:off x="7772400" y="3905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/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Phone</a:t>
            </a:r>
          </a:p>
        </p:txBody>
      </p:sp>
    </p:spTree>
    <p:extLst>
      <p:ext uri="{BB962C8B-B14F-4D97-AF65-F5344CB8AC3E}">
        <p14:creationId xmlns:p14="http://schemas.microsoft.com/office/powerpoint/2010/main" val="2385476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CA6E6-A1C8-430A-8E7F-44A94A0FE508}"/>
              </a:ext>
            </a:extLst>
          </p:cNvPr>
          <p:cNvSpPr txBox="1"/>
          <p:nvPr/>
        </p:nvSpPr>
        <p:spPr>
          <a:xfrm>
            <a:off x="2476714" y="2248584"/>
            <a:ext cx="4190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/>
              <a:t>실제 구현 테스트 앱</a:t>
            </a:r>
          </a:p>
        </p:txBody>
      </p:sp>
    </p:spTree>
    <p:extLst>
      <p:ext uri="{BB962C8B-B14F-4D97-AF65-F5344CB8AC3E}">
        <p14:creationId xmlns:p14="http://schemas.microsoft.com/office/powerpoint/2010/main" val="122651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noGrp="1"/>
          </p:cNvSpPr>
          <p:nvPr/>
        </p:nvSpPr>
        <p:spPr>
          <a:xfrm>
            <a:off x="1133475" y="81915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noGrp="1"/>
          </p:cNvSpPr>
          <p:nvPr/>
        </p:nvSpPr>
        <p:spPr>
          <a:xfrm>
            <a:off x="5305424" y="818007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noGrp="1"/>
          </p:cNvSpPr>
          <p:nvPr/>
        </p:nvSpPr>
        <p:spPr>
          <a:xfrm>
            <a:off x="5305424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</a:t>
            </a:r>
            <a:r>
              <a:rPr sz="788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동의</a:t>
            </a: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권한</a:t>
            </a:r>
            <a:endParaRPr sz="788" b="1" dirty="0">
              <a:solidFill>
                <a:srgbClr val="267A73"/>
              </a:solidFill>
              <a:latin typeface="Malgun Gothic"/>
              <a:ea typeface="Malgun Gothic"/>
              <a:cs typeface="Malgun Gothic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EC7E48E-3236-484C-84DA-753E881B4059}"/>
              </a:ext>
            </a:extLst>
          </p:cNvPr>
          <p:cNvGrpSpPr/>
          <p:nvPr/>
        </p:nvGrpSpPr>
        <p:grpSpPr>
          <a:xfrm>
            <a:off x="4167831" y="1270253"/>
            <a:ext cx="3729156" cy="3536824"/>
            <a:chOff x="4167831" y="1270253"/>
            <a:chExt cx="3729156" cy="353682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AA80C20-3389-4B47-8AA2-6FA902511A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6"/>
            <a:stretch/>
          </p:blipFill>
          <p:spPr>
            <a:xfrm>
              <a:off x="4167831" y="1270253"/>
              <a:ext cx="1732261" cy="353682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8E9182F-33F8-419B-A8C7-AAEA1F97C6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20"/>
            <a:stretch/>
          </p:blipFill>
          <p:spPr>
            <a:xfrm>
              <a:off x="6161913" y="1270253"/>
              <a:ext cx="1735074" cy="3536824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877763B-71BC-4253-BE4B-B92CC77B916C}"/>
              </a:ext>
            </a:extLst>
          </p:cNvPr>
          <p:cNvSpPr txBox="1"/>
          <p:nvPr/>
        </p:nvSpPr>
        <p:spPr>
          <a:xfrm>
            <a:off x="1404938" y="21478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미구현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350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프로필 · 갈망 상태 · Watch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4000500" y="837057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8F2AADC-8BD4-4717-958D-F4C4868B45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9"/>
          <a:stretch/>
        </p:blipFill>
        <p:spPr>
          <a:xfrm>
            <a:off x="2389675" y="1101280"/>
            <a:ext cx="1903069" cy="391058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7960457-36D4-4D7D-BB6D-581FB612A0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9"/>
          <a:stretch/>
        </p:blipFill>
        <p:spPr>
          <a:xfrm>
            <a:off x="4820748" y="1101280"/>
            <a:ext cx="1903069" cy="39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3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BDCC56-BC50-4F2F-9CF6-9D7DC6DB6A66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— AUQ 또는 바로 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EDB5A8-8F4F-4A94-8C3D-9840CA53B28D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7635AC-A52A-4924-A67F-A32A6FD0329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61FC78-C7B1-42C3-ADE5-83DCA6D60CCC}"/>
              </a:ext>
            </a:extLst>
          </p:cNvPr>
          <p:cNvSpPr>
            <a:spLocks noGrp="1"/>
          </p:cNvSpPr>
          <p:nvPr/>
        </p:nvSpPr>
        <p:spPr>
          <a:xfrm>
            <a:off x="1664657" y="836295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4AEF14-72EB-4128-A361-429ED848066D}"/>
              </a:ext>
            </a:extLst>
          </p:cNvPr>
          <p:cNvSpPr>
            <a:spLocks noGrp="1"/>
          </p:cNvSpPr>
          <p:nvPr/>
        </p:nvSpPr>
        <p:spPr>
          <a:xfrm>
            <a:off x="5000625" y="836295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1F2922-8B01-48D7-9140-7F6D31F591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"/>
          <a:stretch/>
        </p:blipFill>
        <p:spPr>
          <a:xfrm>
            <a:off x="1466195" y="1063561"/>
            <a:ext cx="1825675" cy="375418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F8C9A93-CD07-431B-83BC-5DAE0E46D3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"/>
          <a:stretch/>
        </p:blipFill>
        <p:spPr>
          <a:xfrm>
            <a:off x="3659162" y="1063561"/>
            <a:ext cx="1825675" cy="37541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5C02410-C49D-4BC2-A6F1-07FB4010CA5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"/>
          <a:stretch/>
        </p:blipFill>
        <p:spPr>
          <a:xfrm>
            <a:off x="5918687" y="1063561"/>
            <a:ext cx="1825675" cy="37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56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8673E2-D046-4E56-988A-82047F9E49A8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갈망 단계 · 이벤트 · AUQ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40A6F7-E9B4-443E-A585-DC8667FBAB4A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C351BC-EC17-4D3F-BEEC-12ECE864262F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841304-95C8-437D-AF2B-AC1D13332F10}"/>
              </a:ext>
            </a:extLst>
          </p:cNvPr>
          <p:cNvSpPr>
            <a:spLocks noGrp="1"/>
          </p:cNvSpPr>
          <p:nvPr/>
        </p:nvSpPr>
        <p:spPr>
          <a:xfrm>
            <a:off x="3790950" y="717042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</a:t>
            </a:r>
            <a:r>
              <a:rPr sz="788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대시보드</a:t>
            </a:r>
            <a:endParaRPr sz="788" b="1" dirty="0">
              <a:solidFill>
                <a:srgbClr val="267A73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847BA8-E4A4-46F3-903D-79CC040E97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4814933" y="1038225"/>
            <a:ext cx="1830382" cy="375284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DECA571-BFCD-458B-ABC0-83F4F0C1B7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2555104" y="1038225"/>
            <a:ext cx="1830383" cy="375285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6C5F859-B4CD-4B78-B145-CBB3C24A12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295275" y="1038225"/>
            <a:ext cx="1830383" cy="375285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9BB2B68-6A44-4812-A2BB-89BD34F23C1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7074760" y="1038225"/>
            <a:ext cx="1830383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4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측정 — 20초 rPPG 시나리오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4000500" y="836485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NT-04R · rPPG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274416-3FF6-4021-A66E-3D082AB6B9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/>
          <a:stretch/>
        </p:blipFill>
        <p:spPr>
          <a:xfrm>
            <a:off x="7239571" y="1011365"/>
            <a:ext cx="1826273" cy="374808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3E4821E-A555-4874-8D87-E0CEFECAAF6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/>
          <a:stretch/>
        </p:blipFill>
        <p:spPr>
          <a:xfrm>
            <a:off x="4851780" y="1011365"/>
            <a:ext cx="1826273" cy="374808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418E6AF-CBBD-434D-9C38-0C2A0882233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/>
          <a:stretch/>
        </p:blipFill>
        <p:spPr>
          <a:xfrm>
            <a:off x="2463990" y="1011365"/>
            <a:ext cx="1826273" cy="374808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3C76A6C-EFFE-4CFA-8CBC-3495B9B4A25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/>
          <a:stretch/>
        </p:blipFill>
        <p:spPr>
          <a:xfrm>
            <a:off x="76200" y="1011366"/>
            <a:ext cx="1826273" cy="374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6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</Words>
  <Application>Microsoft Office PowerPoint</Application>
  <DocSecurity>0</DocSecurity>
  <PresentationFormat>화면 슬라이드 쇼(16:9)</PresentationFormat>
  <Paragraphs>270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이준영</cp:lastModifiedBy>
  <cp:revision>1</cp:revision>
  <dcterms:created xsi:type="dcterms:W3CDTF">2026-07-19T11:20:25Z</dcterms:created>
  <dcterms:modified xsi:type="dcterms:W3CDTF">2026-07-19T11:28:04Z</dcterms:modified>
</cp:coreProperties>
</file>